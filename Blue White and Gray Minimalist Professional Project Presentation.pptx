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Barlow SemiCondensed Bold" charset="1" panose="00000806000000000000"/>
      <p:regular r:id="rId25"/>
    </p:embeddedFont>
    <p:embeddedFont>
      <p:font typeface="Work Sans" charset="1" panose="00000000000000000000"/>
      <p:regular r:id="rId26"/>
    </p:embeddedFont>
    <p:embeddedFont>
      <p:font typeface="Work Sans Bold" charset="1" panose="00000000000000000000"/>
      <p:regular r:id="rId27"/>
    </p:embeddedFont>
    <p:embeddedFont>
      <p:font typeface="Work Sans Italics" charset="1" panose="00000000000000000000"/>
      <p:regular r:id="rId28"/>
    </p:embeddedFont>
    <p:embeddedFont>
      <p:font typeface="Work Sans Bold Italics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4323" y="7226864"/>
            <a:ext cx="2785070" cy="3301269"/>
          </a:xfrm>
          <a:custGeom>
            <a:avLst/>
            <a:gdLst/>
            <a:ahLst/>
            <a:cxnLst/>
            <a:rect r="r" b="b" t="t" l="l"/>
            <a:pathLst>
              <a:path h="3301269" w="2785070">
                <a:moveTo>
                  <a:pt x="0" y="0"/>
                </a:moveTo>
                <a:lnTo>
                  <a:pt x="2785070" y="0"/>
                </a:lnTo>
                <a:lnTo>
                  <a:pt x="2785070" y="3301269"/>
                </a:lnTo>
                <a:lnTo>
                  <a:pt x="0" y="3301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588736" y="-1070386"/>
            <a:ext cx="2481021" cy="2940865"/>
          </a:xfrm>
          <a:custGeom>
            <a:avLst/>
            <a:gdLst/>
            <a:ahLst/>
            <a:cxnLst/>
            <a:rect r="r" b="b" t="t" l="l"/>
            <a:pathLst>
              <a:path h="2940865" w="2481021">
                <a:moveTo>
                  <a:pt x="2481021" y="2940865"/>
                </a:moveTo>
                <a:lnTo>
                  <a:pt x="0" y="2940865"/>
                </a:lnTo>
                <a:lnTo>
                  <a:pt x="0" y="0"/>
                </a:lnTo>
                <a:lnTo>
                  <a:pt x="2481021" y="0"/>
                </a:lnTo>
                <a:lnTo>
                  <a:pt x="2481021" y="29408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7061" y="6997418"/>
            <a:ext cx="845876" cy="861541"/>
          </a:xfrm>
          <a:custGeom>
            <a:avLst/>
            <a:gdLst/>
            <a:ahLst/>
            <a:cxnLst/>
            <a:rect r="r" b="b" t="t" l="l"/>
            <a:pathLst>
              <a:path h="861541" w="845876">
                <a:moveTo>
                  <a:pt x="0" y="0"/>
                </a:moveTo>
                <a:lnTo>
                  <a:pt x="845877" y="0"/>
                </a:lnTo>
                <a:lnTo>
                  <a:pt x="845877" y="861541"/>
                </a:lnTo>
                <a:lnTo>
                  <a:pt x="0" y="861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7002921" y="1449665"/>
            <a:ext cx="826325" cy="841628"/>
          </a:xfrm>
          <a:custGeom>
            <a:avLst/>
            <a:gdLst/>
            <a:ahLst/>
            <a:cxnLst/>
            <a:rect r="r" b="b" t="t" l="l"/>
            <a:pathLst>
              <a:path h="841628" w="826325">
                <a:moveTo>
                  <a:pt x="826326" y="841628"/>
                </a:moveTo>
                <a:lnTo>
                  <a:pt x="0" y="841628"/>
                </a:lnTo>
                <a:lnTo>
                  <a:pt x="0" y="0"/>
                </a:lnTo>
                <a:lnTo>
                  <a:pt x="826326" y="0"/>
                </a:lnTo>
                <a:lnTo>
                  <a:pt x="826326" y="84162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270881" y="8022214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17119" y="2080800"/>
            <a:ext cx="10253761" cy="590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04"/>
              </a:lnSpc>
            </a:pPr>
            <a:r>
              <a:rPr lang="en-US" b="true" sz="11217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REVERSE PROXY VE</a:t>
            </a:r>
          </a:p>
          <a:p>
            <a:pPr algn="ctr">
              <a:lnSpc>
                <a:spcPts val="15704"/>
              </a:lnSpc>
            </a:pPr>
            <a:r>
              <a:rPr lang="en-US" b="true" sz="11217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LOAD BALANCER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14400"/>
            <a:ext cx="1536330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REVERSE PROXY VE LOAD BALANCER NEDİR?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814597"/>
            <a:ext cx="15669468" cy="502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Reverse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Proxy ve Load Balancer, modern ağ mimarilerinde, web uygulamalarında ve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DevOps altyapılarında kullanılan iki önemli bileşendir.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İkisi de istemci (Client) ile sunucular (Backend Servers) arasında konumlanabilir. Ancak temel görevleri farklıdır: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Reverse Proxy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: İstemciden gelen istekleri karşılar, belirli kurall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ara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göre uygun backend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sunucu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u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eti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ve y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nıtı istemciye döndürür.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Load Balanc</a:t>
            </a:r>
            <a:r>
              <a:rPr lang="en-US" b="true" sz="2400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er: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Gele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ağ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v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ya uy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g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u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f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ği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ir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d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f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z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la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su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ucuy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d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ağ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k ka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y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k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v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rim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 ku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lanı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lm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v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rv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 sü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kl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ğ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s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ağ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lama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ya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y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rd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mcı o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u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1028700" y="8225339"/>
            <a:ext cx="1014180" cy="1032961"/>
          </a:xfrm>
          <a:custGeom>
            <a:avLst/>
            <a:gdLst/>
            <a:ahLst/>
            <a:cxnLst/>
            <a:rect r="r" b="b" t="t" l="l"/>
            <a:pathLst>
              <a:path h="1032961" w="1014180">
                <a:moveTo>
                  <a:pt x="1014180" y="1032961"/>
                </a:moveTo>
                <a:lnTo>
                  <a:pt x="0" y="1032961"/>
                </a:lnTo>
                <a:lnTo>
                  <a:pt x="0" y="0"/>
                </a:lnTo>
                <a:lnTo>
                  <a:pt x="1014180" y="0"/>
                </a:lnTo>
                <a:lnTo>
                  <a:pt x="1014180" y="103296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7061" y="6997418"/>
            <a:ext cx="845876" cy="861541"/>
          </a:xfrm>
          <a:custGeom>
            <a:avLst/>
            <a:gdLst/>
            <a:ahLst/>
            <a:cxnLst/>
            <a:rect r="r" b="b" t="t" l="l"/>
            <a:pathLst>
              <a:path h="861541" w="845876">
                <a:moveTo>
                  <a:pt x="0" y="0"/>
                </a:moveTo>
                <a:lnTo>
                  <a:pt x="845877" y="0"/>
                </a:lnTo>
                <a:lnTo>
                  <a:pt x="845877" y="861541"/>
                </a:lnTo>
                <a:lnTo>
                  <a:pt x="0" y="861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7002921" y="1449665"/>
            <a:ext cx="826325" cy="841628"/>
          </a:xfrm>
          <a:custGeom>
            <a:avLst/>
            <a:gdLst/>
            <a:ahLst/>
            <a:cxnLst/>
            <a:rect r="r" b="b" t="t" l="l"/>
            <a:pathLst>
              <a:path h="841628" w="826325">
                <a:moveTo>
                  <a:pt x="826326" y="841628"/>
                </a:moveTo>
                <a:lnTo>
                  <a:pt x="0" y="841628"/>
                </a:lnTo>
                <a:lnTo>
                  <a:pt x="0" y="0"/>
                </a:lnTo>
                <a:lnTo>
                  <a:pt x="826326" y="0"/>
                </a:lnTo>
                <a:lnTo>
                  <a:pt x="826326" y="8416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17119" y="4071525"/>
            <a:ext cx="10253761" cy="192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04"/>
              </a:lnSpc>
            </a:pPr>
            <a:r>
              <a:rPr lang="en-US" b="true" sz="11217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REVERSE PROXY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028700" y="8225339"/>
            <a:ext cx="1014180" cy="1032961"/>
          </a:xfrm>
          <a:custGeom>
            <a:avLst/>
            <a:gdLst/>
            <a:ahLst/>
            <a:cxnLst/>
            <a:rect r="r" b="b" t="t" l="l"/>
            <a:pathLst>
              <a:path h="1032961" w="1014180">
                <a:moveTo>
                  <a:pt x="1014180" y="1032961"/>
                </a:moveTo>
                <a:lnTo>
                  <a:pt x="0" y="1032961"/>
                </a:lnTo>
                <a:lnTo>
                  <a:pt x="0" y="0"/>
                </a:lnTo>
                <a:lnTo>
                  <a:pt x="1014180" y="0"/>
                </a:lnTo>
                <a:lnTo>
                  <a:pt x="1014180" y="103296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584039" y="6857444"/>
            <a:ext cx="1057988" cy="282939"/>
            <a:chOff x="0" y="0"/>
            <a:chExt cx="317627" cy="849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627" cy="84944"/>
            </a:xfrm>
            <a:custGeom>
              <a:avLst/>
              <a:gdLst/>
              <a:ahLst/>
              <a:cxnLst/>
              <a:rect r="r" b="b" t="t" l="l"/>
              <a:pathLst>
                <a:path h="84944" w="317627">
                  <a:moveTo>
                    <a:pt x="0" y="0"/>
                  </a:moveTo>
                  <a:lnTo>
                    <a:pt x="317627" y="0"/>
                  </a:lnTo>
                  <a:lnTo>
                    <a:pt x="317627" y="84944"/>
                  </a:lnTo>
                  <a:lnTo>
                    <a:pt x="0" y="849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17627" cy="132569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39896" y="8928173"/>
            <a:ext cx="2155817" cy="330127"/>
            <a:chOff x="0" y="0"/>
            <a:chExt cx="647216" cy="991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7216" cy="99110"/>
            </a:xfrm>
            <a:custGeom>
              <a:avLst/>
              <a:gdLst/>
              <a:ahLst/>
              <a:cxnLst/>
              <a:rect r="r" b="b" t="t" l="l"/>
              <a:pathLst>
                <a:path h="99110" w="647216">
                  <a:moveTo>
                    <a:pt x="0" y="0"/>
                  </a:moveTo>
                  <a:lnTo>
                    <a:pt x="647216" y="0"/>
                  </a:lnTo>
                  <a:lnTo>
                    <a:pt x="647216" y="99110"/>
                  </a:lnTo>
                  <a:lnTo>
                    <a:pt x="0" y="991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47216" cy="14673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941646" y="4525838"/>
            <a:ext cx="11843575" cy="4567398"/>
          </a:xfrm>
          <a:custGeom>
            <a:avLst/>
            <a:gdLst/>
            <a:ahLst/>
            <a:cxnLst/>
            <a:rect r="r" b="b" t="t" l="l"/>
            <a:pathLst>
              <a:path h="4567398" w="11843575">
                <a:moveTo>
                  <a:pt x="0" y="0"/>
                </a:moveTo>
                <a:lnTo>
                  <a:pt x="11843575" y="0"/>
                </a:lnTo>
                <a:lnTo>
                  <a:pt x="11843575" y="4567398"/>
                </a:lnTo>
                <a:lnTo>
                  <a:pt x="0" y="4567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914400"/>
            <a:ext cx="1306680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REVERSE PROXY NEDİR?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814597"/>
            <a:ext cx="15669468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Reverse Proxy, istemciler ile backend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sunucuları arasında konumlanan ve istemci adına backend sunucularıyla iletişim kuran bir </a:t>
            </a: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ara sunucudur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Kullanıcı doğrudan uygulama sunucusuna bağlanmak yerine Reverse Proxy'ye bağlanır. Reverse Proxy isteği inceler, uygun sunucuya yönlendirir ve aldığı yanıtı istemciye iletir.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39896" y="8928173"/>
            <a:ext cx="2155817" cy="330127"/>
            <a:chOff x="0" y="0"/>
            <a:chExt cx="647216" cy="99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216" cy="99110"/>
            </a:xfrm>
            <a:custGeom>
              <a:avLst/>
              <a:gdLst/>
              <a:ahLst/>
              <a:cxnLst/>
              <a:rect r="r" b="b" t="t" l="l"/>
              <a:pathLst>
                <a:path h="99110" w="647216">
                  <a:moveTo>
                    <a:pt x="0" y="0"/>
                  </a:moveTo>
                  <a:lnTo>
                    <a:pt x="647216" y="0"/>
                  </a:lnTo>
                  <a:lnTo>
                    <a:pt x="647216" y="99110"/>
                  </a:lnTo>
                  <a:lnTo>
                    <a:pt x="0" y="991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47216" cy="14673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14400"/>
            <a:ext cx="1525320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REVERSE PROXY'NİN TEMEL GÖREVLERİ NELERDİR?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14597"/>
            <a:ext cx="15669468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Reverse Proxy, istemcilerden gelen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istekleri karşılayarak uygun backend sunucularına yönlendiren bir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ara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katma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nd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. Temel amacı </a:t>
            </a: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trafiği merkezi olarak yönetmek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, </a:t>
            </a: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güvenliği artırmak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ve</a:t>
            </a: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uygulama performansını iyileştirmektir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849137"/>
            <a:ext cx="15669468" cy="586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1. Load Balancing (Yük Dengeleme)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Gelen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istemci isteklerini birden fazla backend sunucusu arasında dağıtarak tek bir sunucunun 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şı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yü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klenmesin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önlemeye yardımcı olur. Round Robin, Least Connections ve IP Hash gibi algoritmalar kullanılabilir.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Round Robin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, gelen istekleri backend sunucularına sırayla ve döngüsel olarak dağıtır.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Least Connections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, gelen isteği o anda en az aktif bağlantıya sahip backend sunucusuna yönlendirir.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IP Hash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, istemcinin IP adresini bir hash fonksiyonundan geçirerek hangi backend sunucusuna yönlendirileceğini belirler. Amaç, aynı IP adresinden gelen isteklerin genellikle aynı backend sunucusuna gönderilmesidir.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39896" y="8928173"/>
            <a:ext cx="2155817" cy="330127"/>
            <a:chOff x="0" y="0"/>
            <a:chExt cx="647216" cy="99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216" cy="99110"/>
            </a:xfrm>
            <a:custGeom>
              <a:avLst/>
              <a:gdLst/>
              <a:ahLst/>
              <a:cxnLst/>
              <a:rect r="r" b="b" t="t" l="l"/>
              <a:pathLst>
                <a:path h="99110" w="647216">
                  <a:moveTo>
                    <a:pt x="0" y="0"/>
                  </a:moveTo>
                  <a:lnTo>
                    <a:pt x="647216" y="0"/>
                  </a:lnTo>
                  <a:lnTo>
                    <a:pt x="647216" y="99110"/>
                  </a:lnTo>
                  <a:lnTo>
                    <a:pt x="0" y="991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47216" cy="14673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14400"/>
            <a:ext cx="1525320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REVERSE PROXY'NİN TEMEL GÖREVLERİ NELERDİR?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19910"/>
            <a:ext cx="15669468" cy="544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2</a:t>
            </a: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. SSL/TLS Termination (Şifreleme Sonlandırma)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İ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stemci ile Reverse Proxy arasındaki HTTPS bağlantısın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y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önetir.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TLS Handshake işlemini gerçekleştirir.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SSL/TLS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sertifikalarını yönetir.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Gelen şifreli trafiğin şifresini çözer.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İstekleri backend sunucularına HTTP veya HTTPS üzerinden iletir.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Böylece TLS yönetimi merkezi hale getirilebilir.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39896" y="8928173"/>
            <a:ext cx="2155817" cy="330127"/>
            <a:chOff x="0" y="0"/>
            <a:chExt cx="647216" cy="99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216" cy="99110"/>
            </a:xfrm>
            <a:custGeom>
              <a:avLst/>
              <a:gdLst/>
              <a:ahLst/>
              <a:cxnLst/>
              <a:rect r="r" b="b" t="t" l="l"/>
              <a:pathLst>
                <a:path h="99110" w="647216">
                  <a:moveTo>
                    <a:pt x="0" y="0"/>
                  </a:moveTo>
                  <a:lnTo>
                    <a:pt x="647216" y="0"/>
                  </a:lnTo>
                  <a:lnTo>
                    <a:pt x="647216" y="99110"/>
                  </a:lnTo>
                  <a:lnTo>
                    <a:pt x="0" y="991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47216" cy="14673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14400"/>
            <a:ext cx="1525320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REVERSE PROXY'NİN TEMEL GÖREVLERİ NELERDİR?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19910"/>
            <a:ext cx="15669468" cy="586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3</a:t>
            </a: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. Security (Güvenlik)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Backend sunucularının doğrudan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internete açılmasını önleyen bir mimari kurulmasını sağlar.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Backend sunucularının private IP adreslerini istemcilerden gizleyebilir.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IP tabanlı erişim kontrolü uygulayabilir.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Rate Limiting ile aşırı istekleri sınırlandırabilir.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WAF entegrasyonu sayesinde bazı web saldırılarına karşı koruma sağlayabilir.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Ancak Reverse Proxy tek başına tam güvenlik sağlamaz; firewall ve ağ erişim kurallarıyla desteklenmelidir.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39896" y="8928173"/>
            <a:ext cx="2155817" cy="330127"/>
            <a:chOff x="0" y="0"/>
            <a:chExt cx="647216" cy="99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216" cy="99110"/>
            </a:xfrm>
            <a:custGeom>
              <a:avLst/>
              <a:gdLst/>
              <a:ahLst/>
              <a:cxnLst/>
              <a:rect r="r" b="b" t="t" l="l"/>
              <a:pathLst>
                <a:path h="99110" w="647216">
                  <a:moveTo>
                    <a:pt x="0" y="0"/>
                  </a:moveTo>
                  <a:lnTo>
                    <a:pt x="647216" y="0"/>
                  </a:lnTo>
                  <a:lnTo>
                    <a:pt x="647216" y="99110"/>
                  </a:lnTo>
                  <a:lnTo>
                    <a:pt x="0" y="991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47216" cy="14673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14400"/>
            <a:ext cx="1525320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REVERSE PROXY'NİN TEMEL GÖREVLERİ NELERDİR?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19910"/>
            <a:ext cx="15669468" cy="586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4</a:t>
            </a: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. Caching (Önbellekleme)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Backend sunucularından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gelen uygun HTTP yanıtlarını geçici olarak saklayabilir.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Örneğin aynı görsel 1.000 kez istendiği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nde, uygun cache yapılandırması sayesinde her isteğin backend sunucusuna gitmesi gerekmez.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Bu sayede: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Backend sunucularının yükü azalır.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Yanıt süreleri kısalabilir.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Ağ ve sunucu kaynakları daha verimli kullanılır.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39896" y="8928173"/>
            <a:ext cx="2155817" cy="330127"/>
            <a:chOff x="0" y="0"/>
            <a:chExt cx="647216" cy="99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216" cy="99110"/>
            </a:xfrm>
            <a:custGeom>
              <a:avLst/>
              <a:gdLst/>
              <a:ahLst/>
              <a:cxnLst/>
              <a:rect r="r" b="b" t="t" l="l"/>
              <a:pathLst>
                <a:path h="99110" w="647216">
                  <a:moveTo>
                    <a:pt x="0" y="0"/>
                  </a:moveTo>
                  <a:lnTo>
                    <a:pt x="647216" y="0"/>
                  </a:lnTo>
                  <a:lnTo>
                    <a:pt x="647216" y="99110"/>
                  </a:lnTo>
                  <a:lnTo>
                    <a:pt x="0" y="991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47216" cy="14673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14400"/>
            <a:ext cx="1525320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REVERSE PROXY'NİN TEMEL GÖREVLERİ NELERDİR?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19910"/>
            <a:ext cx="15669468" cy="712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5</a:t>
            </a: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. Request Routing (İstek Yönlendirme)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Gel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en HTTP isteklerini URL, domain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veya HTTP header bilgilerine göre farklı backend su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nucularına yönlendirir.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Örneğin: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Gelen istek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                                        </a:t>
            </a: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Hedef sunucu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example.com/api                                  API Server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example.com/admin                            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Admin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Server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ex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ample.com/images                            Static Server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Bu özellik özellikle mikroservis mimarilerinde önemlidir.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39896" y="8928173"/>
            <a:ext cx="2155817" cy="330127"/>
            <a:chOff x="0" y="0"/>
            <a:chExt cx="647216" cy="99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216" cy="99110"/>
            </a:xfrm>
            <a:custGeom>
              <a:avLst/>
              <a:gdLst/>
              <a:ahLst/>
              <a:cxnLst/>
              <a:rect r="r" b="b" t="t" l="l"/>
              <a:pathLst>
                <a:path h="99110" w="647216">
                  <a:moveTo>
                    <a:pt x="0" y="0"/>
                  </a:moveTo>
                  <a:lnTo>
                    <a:pt x="647216" y="0"/>
                  </a:lnTo>
                  <a:lnTo>
                    <a:pt x="647216" y="99110"/>
                  </a:lnTo>
                  <a:lnTo>
                    <a:pt x="0" y="991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47216" cy="14673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14400"/>
            <a:ext cx="1525320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REVERSE PROXY'NİN TEMEL GÖREVLERİ NELERDİR?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19910"/>
            <a:ext cx="15669468" cy="628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6</a:t>
            </a: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. Rate Limiting (İstek Sınırlandırma)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Bir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istemcinin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belirli bir süre içerisinde gönderebileceği istek s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ayısını sınırlandırabilir.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Örneğin: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1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IP adresi → Dakika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d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mak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im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u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 100 istek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Limit aşıldığında Reverse Proxy, yapılandırmaya bağlı olarak isteğ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reddedebilir v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ey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 geciktirebilir. 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Bu mekanizma API servislerinin korunmasına ve kaynak tüketiminin kontrol edilmesine yardımcı olur.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39896" y="8928173"/>
            <a:ext cx="2155817" cy="330127"/>
            <a:chOff x="0" y="0"/>
            <a:chExt cx="647216" cy="99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216" cy="99110"/>
            </a:xfrm>
            <a:custGeom>
              <a:avLst/>
              <a:gdLst/>
              <a:ahLst/>
              <a:cxnLst/>
              <a:rect r="r" b="b" t="t" l="l"/>
              <a:pathLst>
                <a:path h="99110" w="647216">
                  <a:moveTo>
                    <a:pt x="0" y="0"/>
                  </a:moveTo>
                  <a:lnTo>
                    <a:pt x="647216" y="0"/>
                  </a:lnTo>
                  <a:lnTo>
                    <a:pt x="647216" y="99110"/>
                  </a:lnTo>
                  <a:lnTo>
                    <a:pt x="0" y="991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47216" cy="14673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14400"/>
            <a:ext cx="1525320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REVERSE PROXY'NİN TEMEL GÖREVLERİ NELERDİR?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19910"/>
            <a:ext cx="15669468" cy="795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7</a:t>
            </a: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. Health Checking (Sunucu Sağlık Kontrolü)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Rever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se Proxy veya onunla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birlikte kullanılan yük dengeleme bileşeni, backend sunucul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arının erişilebilirliğini kontrol edebilir.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Örneğin: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ackend 1 → Healthy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Backend 2 → Unhealthy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Backend 3 → Healthy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Yapılandırılmış sağlık kontrolü mekanizması, çalışmayan Backend 2'ye yeni istek gönderilmesini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gelleyebilir.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Bu özellik kullanılan yazılımın ve sürümün desteklediği health check mekanizmalarına bağlıdır.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39896" y="8928173"/>
            <a:ext cx="2155817" cy="330127"/>
            <a:chOff x="0" y="0"/>
            <a:chExt cx="647216" cy="99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7216" cy="99110"/>
            </a:xfrm>
            <a:custGeom>
              <a:avLst/>
              <a:gdLst/>
              <a:ahLst/>
              <a:cxnLst/>
              <a:rect r="r" b="b" t="t" l="l"/>
              <a:pathLst>
                <a:path h="99110" w="647216">
                  <a:moveTo>
                    <a:pt x="0" y="0"/>
                  </a:moveTo>
                  <a:lnTo>
                    <a:pt x="647216" y="0"/>
                  </a:lnTo>
                  <a:lnTo>
                    <a:pt x="647216" y="99110"/>
                  </a:lnTo>
                  <a:lnTo>
                    <a:pt x="0" y="991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47216" cy="14673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14400"/>
            <a:ext cx="1525320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REVERSE PROXY'NİN TEMEL GÖREVLERİ NELERDİR?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19910"/>
            <a:ext cx="15669468" cy="502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8</a:t>
            </a: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. Logging &amp; Monitoring (Kayıt ve İzleme)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Rever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se Proxy,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istemci istekleri ve sunucu y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anıtları hakkında merkezi log kayıtları oluşturabilir.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192.168.1.10 - GET /api/users - 200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192.168.1.20 - GET /admin - 403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192.168.1.30 - GET /products - 502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Bu kayıtlar sayesinde trafik analizi, hata tespiti, güvenlik incelemesi ve performans takibi yapılabilir.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028700" y="8225339"/>
            <a:ext cx="1014180" cy="1032961"/>
          </a:xfrm>
          <a:custGeom>
            <a:avLst/>
            <a:gdLst/>
            <a:ahLst/>
            <a:cxnLst/>
            <a:rect r="r" b="b" t="t" l="l"/>
            <a:pathLst>
              <a:path h="1032961" w="1014180">
                <a:moveTo>
                  <a:pt x="1014180" y="1032961"/>
                </a:moveTo>
                <a:lnTo>
                  <a:pt x="0" y="1032961"/>
                </a:lnTo>
                <a:lnTo>
                  <a:pt x="0" y="0"/>
                </a:lnTo>
                <a:lnTo>
                  <a:pt x="1014180" y="0"/>
                </a:lnTo>
                <a:lnTo>
                  <a:pt x="1014180" y="103296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39892" y="4605020"/>
            <a:ext cx="1600821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REVERSE PROXY NASIL ÇALIŞIR?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028700" y="8225339"/>
            <a:ext cx="1014180" cy="1032961"/>
          </a:xfrm>
          <a:custGeom>
            <a:avLst/>
            <a:gdLst/>
            <a:ahLst/>
            <a:cxnLst/>
            <a:rect r="r" b="b" t="t" l="l"/>
            <a:pathLst>
              <a:path h="1032961" w="1014180">
                <a:moveTo>
                  <a:pt x="1014180" y="1032961"/>
                </a:moveTo>
                <a:lnTo>
                  <a:pt x="0" y="1032961"/>
                </a:lnTo>
                <a:lnTo>
                  <a:pt x="0" y="0"/>
                </a:lnTo>
                <a:lnTo>
                  <a:pt x="1014180" y="0"/>
                </a:lnTo>
                <a:lnTo>
                  <a:pt x="1014180" y="103296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32800" y="736034"/>
            <a:ext cx="13222399" cy="8814933"/>
          </a:xfrm>
          <a:custGeom>
            <a:avLst/>
            <a:gdLst/>
            <a:ahLst/>
            <a:cxnLst/>
            <a:rect r="r" b="b" t="t" l="l"/>
            <a:pathLst>
              <a:path h="8814933" w="13222399">
                <a:moveTo>
                  <a:pt x="0" y="0"/>
                </a:moveTo>
                <a:lnTo>
                  <a:pt x="13222400" y="0"/>
                </a:lnTo>
                <a:lnTo>
                  <a:pt x="13222400" y="8814932"/>
                </a:lnTo>
                <a:lnTo>
                  <a:pt x="0" y="88149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028700" y="8225339"/>
            <a:ext cx="1014180" cy="1032961"/>
          </a:xfrm>
          <a:custGeom>
            <a:avLst/>
            <a:gdLst/>
            <a:ahLst/>
            <a:cxnLst/>
            <a:rect r="r" b="b" t="t" l="l"/>
            <a:pathLst>
              <a:path h="1032961" w="1014180">
                <a:moveTo>
                  <a:pt x="1014180" y="1032961"/>
                </a:moveTo>
                <a:lnTo>
                  <a:pt x="0" y="1032961"/>
                </a:lnTo>
                <a:lnTo>
                  <a:pt x="0" y="0"/>
                </a:lnTo>
                <a:lnTo>
                  <a:pt x="1014180" y="0"/>
                </a:lnTo>
                <a:lnTo>
                  <a:pt x="1014180" y="103296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1600821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40"/>
              </a:lnSpc>
            </a:pPr>
            <a:r>
              <a:rPr lang="en-US" b="true" sz="56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REVERSE PROXY NASIL ÇALIŞIR?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14597"/>
            <a:ext cx="15816740" cy="670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Bir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kullanıcının https://example.com adresini ziyaret ettiğini düşünelim.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1)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DNS Resolution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Tarayıcı, example.com alan adının IP adresini DNS üzerinden çözümler. Bu mimaride DNS kaydı,     </a:t>
            </a:r>
            <a:r>
              <a:rPr lang="en-US" sz="24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genellikle Reverse Proxy'nin veya önündeki public load balancer'ın IP adresine işaret eder.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Örneğin example.com → 203.0.113.10.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2)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b="true" sz="2400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TCP Connection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HTTP/1.1 veya HTTP/2 TCP üzerinden kullanılıyorsa istemci, Reverse Proxy'nin 443 portuna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TCP Three-Way Handshake gerçekleştirir.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SYN → SYN-ACK → ACK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1600821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40"/>
              </a:lnSpc>
            </a:pPr>
            <a:r>
              <a:rPr lang="en-US" b="true" sz="56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REVERSE PROXY NASIL ÇALIŞIR?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14597"/>
            <a:ext cx="15816740" cy="753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5)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b="true" sz="2400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Request Routing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Reverse Proxy, isteğin Host, URL path veya diğer HTTP özelliklerini değerlendirir.</a:t>
            </a:r>
          </a:p>
          <a:p>
            <a:pPr algn="l">
              <a:lnSpc>
                <a:spcPts val="3359"/>
              </a:lnSpc>
            </a:pPr>
            <a:r>
              <a:rPr lang="en-US" sz="24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Örneğin</a:t>
            </a:r>
            <a:r>
              <a:rPr lang="en-US" b="true" sz="2400" i="true">
                <a:solidFill>
                  <a:srgbClr val="3A5F7D"/>
                </a:solidFill>
                <a:latin typeface="Work Sans Bold Italics"/>
                <a:ea typeface="Work Sans Bold Italics"/>
                <a:cs typeface="Work Sans Bold Italics"/>
                <a:sym typeface="Work Sans Bold Italics"/>
              </a:rPr>
              <a:t> /products</a:t>
            </a:r>
            <a:r>
              <a:rPr lang="en-US" sz="24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 isteğini 10.0.0.11:3000 adresindeki backend sunucusuna yönlendirir.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400" i="true">
                <a:solidFill>
                  <a:srgbClr val="3A5F7D"/>
                </a:solidFill>
                <a:latin typeface="Work Sans Bold Italics"/>
                <a:ea typeface="Work Sans Bold Italics"/>
                <a:cs typeface="Work Sans Bold Italics"/>
                <a:sym typeface="Work Sans Bold Italics"/>
              </a:rPr>
              <a:t>6) Backend Communication</a:t>
            </a:r>
          </a:p>
          <a:p>
            <a:pPr algn="l">
              <a:lnSpc>
                <a:spcPts val="3359"/>
              </a:lnSpc>
            </a:pPr>
            <a:r>
              <a:rPr lang="en-US" sz="24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Reverse Proxy, ilgili backend sunucusuna ayrı bir bağlantı üzerinden isteği iletir.</a:t>
            </a:r>
          </a:p>
          <a:p>
            <a:pPr algn="l">
              <a:lnSpc>
                <a:spcPts val="3359"/>
              </a:lnSpc>
            </a:pPr>
            <a:r>
              <a:rPr lang="en-US" sz="24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Reverse Proxy → 10.0.0.11:8080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400" i="true">
                <a:solidFill>
                  <a:srgbClr val="3A5F7D"/>
                </a:solidFill>
                <a:latin typeface="Work Sans Bold Italics"/>
                <a:ea typeface="Work Sans Bold Italics"/>
                <a:cs typeface="Work Sans Bold Italics"/>
                <a:sym typeface="Work Sans Bold Italics"/>
              </a:rPr>
              <a:t>7)</a:t>
            </a:r>
            <a:r>
              <a:rPr lang="en-US" sz="24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 </a:t>
            </a:r>
            <a:r>
              <a:rPr lang="en-US" b="true" sz="2400" i="true">
                <a:solidFill>
                  <a:srgbClr val="3A5F7D"/>
                </a:solidFill>
                <a:latin typeface="Work Sans Bold Italics"/>
                <a:ea typeface="Work Sans Bold Italics"/>
                <a:cs typeface="Work Sans Bold Italics"/>
                <a:sym typeface="Work Sans Bold Italics"/>
              </a:rPr>
              <a:t>HTTP Response</a:t>
            </a:r>
          </a:p>
          <a:p>
            <a:pPr algn="l">
              <a:lnSpc>
                <a:spcPts val="3359"/>
              </a:lnSpc>
            </a:pPr>
            <a:r>
              <a:rPr lang="en-US" sz="24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Backend sunucusundan gelen yanıt Reverse Proxy üzerinden istemciye döner.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028700" y="8225339"/>
            <a:ext cx="1014180" cy="1032961"/>
          </a:xfrm>
          <a:custGeom>
            <a:avLst/>
            <a:gdLst/>
            <a:ahLst/>
            <a:cxnLst/>
            <a:rect r="r" b="b" t="t" l="l"/>
            <a:pathLst>
              <a:path h="1032961" w="1014180">
                <a:moveTo>
                  <a:pt x="1014180" y="1032961"/>
                </a:moveTo>
                <a:lnTo>
                  <a:pt x="0" y="1032961"/>
                </a:lnTo>
                <a:lnTo>
                  <a:pt x="0" y="0"/>
                </a:lnTo>
                <a:lnTo>
                  <a:pt x="1014180" y="0"/>
                </a:lnTo>
                <a:lnTo>
                  <a:pt x="1014180" y="103296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39892" y="4605020"/>
            <a:ext cx="1600821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LOAD BALANCER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6431581" y="1028700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7"/>
                </a:moveTo>
                <a:lnTo>
                  <a:pt x="0" y="843047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1600821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40"/>
              </a:lnSpc>
            </a:pPr>
            <a:r>
              <a:rPr lang="en-US" b="true" sz="56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LOAD BALANCER NEDİR?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14597"/>
            <a:ext cx="15816740" cy="586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Load Balancer, gelen ağ trafiğini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rden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fazl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 backend sunucusu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arası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d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belir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algo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tmala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gör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d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ağıtan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emd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amacı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,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tek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b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ir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sunucu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un 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şı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rı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yük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 önl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mek,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iste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kapas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ites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ini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artı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ak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v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 sunucu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arızaları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nda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hizm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ti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n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dev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e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tm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es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in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e y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rd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mc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olmaktı</a:t>
            </a:r>
            <a:r>
              <a:rPr lang="en-US" sz="2400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r.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15532" y="3012278"/>
            <a:ext cx="8256935" cy="4262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4"/>
              </a:lnSpc>
            </a:pPr>
            <a:r>
              <a:rPr lang="en-US" b="true" sz="14003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6287443" y="7592438"/>
            <a:ext cx="2686140" cy="3184002"/>
          </a:xfrm>
          <a:custGeom>
            <a:avLst/>
            <a:gdLst/>
            <a:ahLst/>
            <a:cxnLst/>
            <a:rect r="r" b="b" t="t" l="l"/>
            <a:pathLst>
              <a:path h="3184002" w="2686140">
                <a:moveTo>
                  <a:pt x="2686139" y="0"/>
                </a:moveTo>
                <a:lnTo>
                  <a:pt x="0" y="0"/>
                </a:lnTo>
                <a:lnTo>
                  <a:pt x="0" y="3184002"/>
                </a:lnTo>
                <a:lnTo>
                  <a:pt x="2686139" y="3184002"/>
                </a:lnTo>
                <a:lnTo>
                  <a:pt x="26861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87443" y="7422745"/>
            <a:ext cx="815830" cy="830937"/>
          </a:xfrm>
          <a:custGeom>
            <a:avLst/>
            <a:gdLst/>
            <a:ahLst/>
            <a:cxnLst/>
            <a:rect r="r" b="b" t="t" l="l"/>
            <a:pathLst>
              <a:path h="830937" w="815830">
                <a:moveTo>
                  <a:pt x="815829" y="0"/>
                </a:moveTo>
                <a:lnTo>
                  <a:pt x="0" y="0"/>
                </a:lnTo>
                <a:lnTo>
                  <a:pt x="0" y="830938"/>
                </a:lnTo>
                <a:lnTo>
                  <a:pt x="815829" y="830938"/>
                </a:lnTo>
                <a:lnTo>
                  <a:pt x="81582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777144" y="-707936"/>
            <a:ext cx="4169756" cy="2519853"/>
          </a:xfrm>
          <a:custGeom>
            <a:avLst/>
            <a:gdLst/>
            <a:ahLst/>
            <a:cxnLst/>
            <a:rect r="r" b="b" t="t" l="l"/>
            <a:pathLst>
              <a:path h="2519853" w="4169756">
                <a:moveTo>
                  <a:pt x="0" y="2519853"/>
                </a:moveTo>
                <a:lnTo>
                  <a:pt x="4169757" y="2519853"/>
                </a:lnTo>
                <a:lnTo>
                  <a:pt x="4169757" y="0"/>
                </a:lnTo>
                <a:lnTo>
                  <a:pt x="0" y="0"/>
                </a:lnTo>
                <a:lnTo>
                  <a:pt x="0" y="25198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895387" y="-707936"/>
            <a:ext cx="4169756" cy="2519853"/>
          </a:xfrm>
          <a:custGeom>
            <a:avLst/>
            <a:gdLst/>
            <a:ahLst/>
            <a:cxnLst/>
            <a:rect r="r" b="b" t="t" l="l"/>
            <a:pathLst>
              <a:path h="2519853" w="4169756">
                <a:moveTo>
                  <a:pt x="4169757" y="2519853"/>
                </a:moveTo>
                <a:lnTo>
                  <a:pt x="0" y="2519853"/>
                </a:lnTo>
                <a:lnTo>
                  <a:pt x="0" y="0"/>
                </a:lnTo>
                <a:lnTo>
                  <a:pt x="4169757" y="0"/>
                </a:lnTo>
                <a:lnTo>
                  <a:pt x="4169757" y="25198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90032" y="7429442"/>
            <a:ext cx="2686140" cy="3184002"/>
          </a:xfrm>
          <a:custGeom>
            <a:avLst/>
            <a:gdLst/>
            <a:ahLst/>
            <a:cxnLst/>
            <a:rect r="r" b="b" t="t" l="l"/>
            <a:pathLst>
              <a:path h="3184002" w="2686140">
                <a:moveTo>
                  <a:pt x="0" y="0"/>
                </a:moveTo>
                <a:lnTo>
                  <a:pt x="2686139" y="0"/>
                </a:lnTo>
                <a:lnTo>
                  <a:pt x="2686139" y="3184002"/>
                </a:lnTo>
                <a:lnTo>
                  <a:pt x="0" y="3184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1701" y="7274722"/>
            <a:ext cx="815830" cy="830937"/>
          </a:xfrm>
          <a:custGeom>
            <a:avLst/>
            <a:gdLst/>
            <a:ahLst/>
            <a:cxnLst/>
            <a:rect r="r" b="b" t="t" l="l"/>
            <a:pathLst>
              <a:path h="830937" w="815830">
                <a:moveTo>
                  <a:pt x="0" y="0"/>
                </a:moveTo>
                <a:lnTo>
                  <a:pt x="815830" y="0"/>
                </a:lnTo>
                <a:lnTo>
                  <a:pt x="815830" y="830937"/>
                </a:lnTo>
                <a:lnTo>
                  <a:pt x="0" y="830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DAHYnFvokEI</dc:identifier>
  <dcterms:modified xsi:type="dcterms:W3CDTF">2011-08-01T06:04:30Z</dcterms:modified>
  <cp:revision>1</cp:revision>
  <dc:title>Blue White and Gray Minimalist Professional Project Presentation</dc:title>
</cp:coreProperties>
</file>