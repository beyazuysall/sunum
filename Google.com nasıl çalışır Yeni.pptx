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IBM Plex Mono Bold" charset="1" panose="020B0809050203000203"/>
      <p:regular r:id="rId32"/>
    </p:embeddedFont>
    <p:embeddedFont>
      <p:font typeface="Garet Bold" charset="1" panose="00000000000000000000"/>
      <p:regular r:id="rId33"/>
    </p:embeddedFont>
    <p:embeddedFont>
      <p:font typeface="Garet" charset="1" panose="000000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16" Target="../media/image27.png" Type="http://schemas.openxmlformats.org/officeDocument/2006/relationships/image"/><Relationship Id="rId17" Target="../media/image28.svg" Type="http://schemas.openxmlformats.org/officeDocument/2006/relationships/image"/><Relationship Id="rId18" Target="../media/image29.png" Type="http://schemas.openxmlformats.org/officeDocument/2006/relationships/image"/><Relationship Id="rId19" Target="../media/image30.svg" Type="http://schemas.openxmlformats.org/officeDocument/2006/relationships/image"/><Relationship Id="rId2" Target="../media/image13.png" Type="http://schemas.openxmlformats.org/officeDocument/2006/relationships/image"/><Relationship Id="rId20" Target="../media/image31.png" Type="http://schemas.openxmlformats.org/officeDocument/2006/relationships/image"/><Relationship Id="rId21" Target="../media/image32.sv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oogle.com" TargetMode="External" Type="http://schemas.openxmlformats.org/officeDocument/2006/relationships/hyperlink"/><Relationship Id="rId3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87346" y="3000449"/>
            <a:ext cx="5746159" cy="5412882"/>
          </a:xfrm>
          <a:custGeom>
            <a:avLst/>
            <a:gdLst/>
            <a:ahLst/>
            <a:cxnLst/>
            <a:rect r="r" b="b" t="t" l="l"/>
            <a:pathLst>
              <a:path h="5412882" w="5746159">
                <a:moveTo>
                  <a:pt x="0" y="0"/>
                </a:moveTo>
                <a:lnTo>
                  <a:pt x="5746159" y="0"/>
                </a:lnTo>
                <a:lnTo>
                  <a:pt x="5746159" y="5412882"/>
                </a:lnTo>
                <a:lnTo>
                  <a:pt x="0" y="54128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108153">
            <a:off x="10398406" y="6062368"/>
            <a:ext cx="997976" cy="828320"/>
          </a:xfrm>
          <a:custGeom>
            <a:avLst/>
            <a:gdLst/>
            <a:ahLst/>
            <a:cxnLst/>
            <a:rect r="r" b="b" t="t" l="l"/>
            <a:pathLst>
              <a:path h="828320" w="997976">
                <a:moveTo>
                  <a:pt x="0" y="0"/>
                </a:moveTo>
                <a:lnTo>
                  <a:pt x="997976" y="0"/>
                </a:lnTo>
                <a:lnTo>
                  <a:pt x="997976" y="828320"/>
                </a:lnTo>
                <a:lnTo>
                  <a:pt x="0" y="828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98145" y="2748446"/>
            <a:ext cx="1035360" cy="911117"/>
          </a:xfrm>
          <a:custGeom>
            <a:avLst/>
            <a:gdLst/>
            <a:ahLst/>
            <a:cxnLst/>
            <a:rect r="r" b="b" t="t" l="l"/>
            <a:pathLst>
              <a:path h="911117" w="1035360">
                <a:moveTo>
                  <a:pt x="0" y="0"/>
                </a:moveTo>
                <a:lnTo>
                  <a:pt x="1035360" y="0"/>
                </a:lnTo>
                <a:lnTo>
                  <a:pt x="1035360" y="911116"/>
                </a:lnTo>
                <a:lnTo>
                  <a:pt x="0" y="9111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299392">
            <a:off x="10461382" y="2526887"/>
            <a:ext cx="837862" cy="1289019"/>
          </a:xfrm>
          <a:custGeom>
            <a:avLst/>
            <a:gdLst/>
            <a:ahLst/>
            <a:cxnLst/>
            <a:rect r="r" b="b" t="t" l="l"/>
            <a:pathLst>
              <a:path h="1289019" w="837862">
                <a:moveTo>
                  <a:pt x="0" y="0"/>
                </a:moveTo>
                <a:lnTo>
                  <a:pt x="837862" y="0"/>
                </a:lnTo>
                <a:lnTo>
                  <a:pt x="837862" y="1289019"/>
                </a:lnTo>
                <a:lnTo>
                  <a:pt x="0" y="12890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301112">
            <a:off x="16326479" y="5114290"/>
            <a:ext cx="811605" cy="811605"/>
          </a:xfrm>
          <a:custGeom>
            <a:avLst/>
            <a:gdLst/>
            <a:ahLst/>
            <a:cxnLst/>
            <a:rect r="r" b="b" t="t" l="l"/>
            <a:pathLst>
              <a:path h="811605" w="811605">
                <a:moveTo>
                  <a:pt x="0" y="0"/>
                </a:moveTo>
                <a:lnTo>
                  <a:pt x="811605" y="0"/>
                </a:lnTo>
                <a:lnTo>
                  <a:pt x="811605" y="811605"/>
                </a:lnTo>
                <a:lnTo>
                  <a:pt x="0" y="8116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-867417">
            <a:off x="11902465" y="3730348"/>
            <a:ext cx="3360266" cy="1927847"/>
            <a:chOff x="0" y="0"/>
            <a:chExt cx="885008" cy="5077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5008" cy="507746"/>
            </a:xfrm>
            <a:custGeom>
              <a:avLst/>
              <a:gdLst/>
              <a:ahLst/>
              <a:cxnLst/>
              <a:rect r="r" b="b" t="t" l="l"/>
              <a:pathLst>
                <a:path h="507746" w="885008">
                  <a:moveTo>
                    <a:pt x="0" y="0"/>
                  </a:moveTo>
                  <a:lnTo>
                    <a:pt x="885008" y="0"/>
                  </a:lnTo>
                  <a:lnTo>
                    <a:pt x="885008" y="507746"/>
                  </a:lnTo>
                  <a:lnTo>
                    <a:pt x="0" y="50774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85008" cy="555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761825">
            <a:off x="12851535" y="4221551"/>
            <a:ext cx="1462125" cy="443207"/>
          </a:xfrm>
          <a:custGeom>
            <a:avLst/>
            <a:gdLst/>
            <a:ahLst/>
            <a:cxnLst/>
            <a:rect r="r" b="b" t="t" l="l"/>
            <a:pathLst>
              <a:path h="443207" w="1462125">
                <a:moveTo>
                  <a:pt x="0" y="0"/>
                </a:moveTo>
                <a:lnTo>
                  <a:pt x="1462125" y="0"/>
                </a:lnTo>
                <a:lnTo>
                  <a:pt x="1462125" y="443207"/>
                </a:lnTo>
                <a:lnTo>
                  <a:pt x="0" y="4432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-730229">
            <a:off x="12233846" y="4742055"/>
            <a:ext cx="2867363" cy="298145"/>
          </a:xfrm>
          <a:custGeom>
            <a:avLst/>
            <a:gdLst/>
            <a:ahLst/>
            <a:cxnLst/>
            <a:rect r="r" b="b" t="t" l="l"/>
            <a:pathLst>
              <a:path h="298145" w="2867363">
                <a:moveTo>
                  <a:pt x="0" y="0"/>
                </a:moveTo>
                <a:lnTo>
                  <a:pt x="2867363" y="0"/>
                </a:lnTo>
                <a:lnTo>
                  <a:pt x="2867363" y="298145"/>
                </a:lnTo>
                <a:lnTo>
                  <a:pt x="0" y="29814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7225" t="-417748" r="-24108" b="-506545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4287966"/>
            <a:ext cx="8734194" cy="2464253"/>
            <a:chOff x="0" y="0"/>
            <a:chExt cx="11645591" cy="3285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174281"/>
              <a:ext cx="4667045" cy="1414698"/>
            </a:xfrm>
            <a:custGeom>
              <a:avLst/>
              <a:gdLst/>
              <a:ahLst/>
              <a:cxnLst/>
              <a:rect r="r" b="b" t="t" l="l"/>
              <a:pathLst>
                <a:path h="1414698" w="4667045">
                  <a:moveTo>
                    <a:pt x="0" y="0"/>
                  </a:moveTo>
                  <a:lnTo>
                    <a:pt x="4667045" y="0"/>
                  </a:lnTo>
                  <a:lnTo>
                    <a:pt x="4667045" y="1414698"/>
                  </a:lnTo>
                  <a:lnTo>
                    <a:pt x="0" y="1414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4667045" y="0"/>
              <a:ext cx="3398625" cy="1588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437"/>
                </a:lnSpc>
              </a:pPr>
              <a:r>
                <a:rPr lang="en-US" sz="7864" b="true">
                  <a:solidFill>
                    <a:srgbClr val="00000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.COM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696691"/>
              <a:ext cx="11645591" cy="1588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437"/>
                </a:lnSpc>
              </a:pPr>
              <a:r>
                <a:rPr lang="en-US" sz="7864" b="true">
                  <a:solidFill>
                    <a:srgbClr val="00000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NASIL ÇALIŞIR?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943779" y="981075"/>
            <a:ext cx="131552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Sayfa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28662"/>
            <a:ext cx="11954638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1) Bilgisayar ağa bağlanıyor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90638"/>
            <a:ext cx="16639321" cy="55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Bilgisayarın internete erişebilmesi için önce modem/router üzerinden yerel ağa bağlanması gerekir.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 bağlantı iki şekilde gerçekleşebilir:</a:t>
            </a:r>
          </a:p>
          <a:p>
            <a:pPr algn="l">
              <a:lnSpc>
                <a:spcPts val="2240"/>
              </a:lnSpc>
            </a:pP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b="true" sz="16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Ethernet (Kablolu):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Bilgisayarın ağ kartı (NIC), ağ kablosuyla switch ya da router’a bağlanır. Cihazlar arasında fiziksel bağlantı kurulur.</a:t>
            </a: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b="true" sz="16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Wi-Fi (Kablosuz):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Bilgisayar çevredeki kablosuz ağları tarar, bağlanmak istediğimiz ağı seçer ve ağ şifresiyle güvenli bağlantı kurar.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Bilgisayar Wi-Fi üzerinden bağlanmak istediği Wi-Fi ağını </a:t>
            </a: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SSID (Service Set Identifier)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adı verilen ağ isimleri üzerinden belirler.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</a:t>
            </a: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Ağları tarar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Bilgisayarın Wi-Fi adaptörü, çevredeki Access Point’lerin (AP) yayınladığı ağları keşfeder.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</a:t>
            </a: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Ağları listeler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Bulduğu ağları isimleriyle </a:t>
            </a: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(SSID)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birlikte kullanıcılara gösterir.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</a:t>
            </a: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Ağ seçilir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Kullanıcı bir ağı seçebilir. Daha önce bağlanılmış ve otomatik bağlantı etkinleştirilmişse bilgisayar ağı kendisi de seçebilir.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</a:t>
            </a: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Bağlantı kurulur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Bilgisayar, seçilen Wi-Fi ağına bağlanmak için kullanıcıdan ağ şifresini ister. Ardından Access Point ile </a:t>
            </a: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802.11 Authentication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(doğrulama)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ve </a:t>
            </a: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Association(ağa katılma) 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işlemlerini gerçekleştirir.</a:t>
            </a: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WPA2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veya </a:t>
            </a: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WPA3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güvenlik protokolüne göre şifre doğrulama ve şifreleme anahtarı oluşturma işlemleri 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tamamlanarak güvenli bağlantı sağlanmış olur. 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Ethernet veya wi-fi bağlantısı kurulduktan sonra bilgisayar yerel ağa bağlanmış olur. Ancak IP adresi üzerinden iletişim kurulabilmesi için henüz gerekli IP bilgilerine sahip olmayabilir. Bu aşamada genellikle </a:t>
            </a: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DHCP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devreye girer.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2436003" y="6250472"/>
            <a:ext cx="13824715" cy="3632968"/>
            <a:chOff x="0" y="0"/>
            <a:chExt cx="18432953" cy="48439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64449" y="1135531"/>
              <a:ext cx="2734048" cy="2761665"/>
            </a:xfrm>
            <a:custGeom>
              <a:avLst/>
              <a:gdLst/>
              <a:ahLst/>
              <a:cxnLst/>
              <a:rect r="r" b="b" t="t" l="l"/>
              <a:pathLst>
                <a:path h="2761665" w="2734048">
                  <a:moveTo>
                    <a:pt x="0" y="0"/>
                  </a:moveTo>
                  <a:lnTo>
                    <a:pt x="2734048" y="0"/>
                  </a:lnTo>
                  <a:lnTo>
                    <a:pt x="2734048" y="2761665"/>
                  </a:lnTo>
                  <a:lnTo>
                    <a:pt x="0" y="2761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1022010" y="2024257"/>
              <a:ext cx="2828657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b="true" sz="1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Switch/Modem (Router)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11278040" y="1247676"/>
              <a:ext cx="1158298" cy="579149"/>
            </a:xfrm>
            <a:custGeom>
              <a:avLst/>
              <a:gdLst/>
              <a:ahLst/>
              <a:cxnLst/>
              <a:rect r="r" b="b" t="t" l="l"/>
              <a:pathLst>
                <a:path h="579149" w="1158298">
                  <a:moveTo>
                    <a:pt x="0" y="0"/>
                  </a:moveTo>
                  <a:lnTo>
                    <a:pt x="1158298" y="0"/>
                  </a:lnTo>
                  <a:lnTo>
                    <a:pt x="1158298" y="579149"/>
                  </a:lnTo>
                  <a:lnTo>
                    <a:pt x="0" y="579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639626" y="1090334"/>
              <a:ext cx="956483" cy="736492"/>
            </a:xfrm>
            <a:custGeom>
              <a:avLst/>
              <a:gdLst/>
              <a:ahLst/>
              <a:cxnLst/>
              <a:rect r="r" b="b" t="t" l="l"/>
              <a:pathLst>
                <a:path h="736492" w="956483">
                  <a:moveTo>
                    <a:pt x="0" y="0"/>
                  </a:moveTo>
                  <a:lnTo>
                    <a:pt x="956483" y="0"/>
                  </a:lnTo>
                  <a:lnTo>
                    <a:pt x="956483" y="736491"/>
                  </a:lnTo>
                  <a:lnTo>
                    <a:pt x="0" y="736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976966" y="1229119"/>
              <a:ext cx="1067379" cy="736492"/>
            </a:xfrm>
            <a:custGeom>
              <a:avLst/>
              <a:gdLst/>
              <a:ahLst/>
              <a:cxnLst/>
              <a:rect r="r" b="b" t="t" l="l"/>
              <a:pathLst>
                <a:path h="736492" w="1067379">
                  <a:moveTo>
                    <a:pt x="0" y="0"/>
                  </a:moveTo>
                  <a:lnTo>
                    <a:pt x="1067380" y="0"/>
                  </a:lnTo>
                  <a:lnTo>
                    <a:pt x="1067380" y="736492"/>
                  </a:lnTo>
                  <a:lnTo>
                    <a:pt x="0" y="73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true" flipV="false" rot="-5594078">
              <a:off x="3034461" y="636350"/>
              <a:ext cx="663901" cy="1185538"/>
            </a:xfrm>
            <a:custGeom>
              <a:avLst/>
              <a:gdLst/>
              <a:ahLst/>
              <a:cxnLst/>
              <a:rect r="r" b="b" t="t" l="l"/>
              <a:pathLst>
                <a:path h="1185538" w="663901">
                  <a:moveTo>
                    <a:pt x="663901" y="0"/>
                  </a:moveTo>
                  <a:lnTo>
                    <a:pt x="0" y="0"/>
                  </a:lnTo>
                  <a:lnTo>
                    <a:pt x="0" y="1185538"/>
                  </a:lnTo>
                  <a:lnTo>
                    <a:pt x="663901" y="1185538"/>
                  </a:lnTo>
                  <a:lnTo>
                    <a:pt x="663901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true" flipV="false" rot="-4318363">
              <a:off x="14474974" y="1273688"/>
              <a:ext cx="663901" cy="1185538"/>
            </a:xfrm>
            <a:custGeom>
              <a:avLst/>
              <a:gdLst/>
              <a:ahLst/>
              <a:cxnLst/>
              <a:rect r="r" b="b" t="t" l="l"/>
              <a:pathLst>
                <a:path h="1185538" w="663901">
                  <a:moveTo>
                    <a:pt x="663902" y="0"/>
                  </a:moveTo>
                  <a:lnTo>
                    <a:pt x="0" y="0"/>
                  </a:lnTo>
                  <a:lnTo>
                    <a:pt x="0" y="1185538"/>
                  </a:lnTo>
                  <a:lnTo>
                    <a:pt x="663902" y="1185538"/>
                  </a:lnTo>
                  <a:lnTo>
                    <a:pt x="663902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4584208">
              <a:off x="3034461" y="3005945"/>
              <a:ext cx="663901" cy="1185538"/>
            </a:xfrm>
            <a:custGeom>
              <a:avLst/>
              <a:gdLst/>
              <a:ahLst/>
              <a:cxnLst/>
              <a:rect r="r" b="b" t="t" l="l"/>
              <a:pathLst>
                <a:path h="1185538" w="663901">
                  <a:moveTo>
                    <a:pt x="0" y="0"/>
                  </a:moveTo>
                  <a:lnTo>
                    <a:pt x="663901" y="0"/>
                  </a:lnTo>
                  <a:lnTo>
                    <a:pt x="663901" y="1185539"/>
                  </a:lnTo>
                  <a:lnTo>
                    <a:pt x="0" y="1185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6488999">
              <a:off x="14568080" y="3143198"/>
              <a:ext cx="663901" cy="1185538"/>
            </a:xfrm>
            <a:custGeom>
              <a:avLst/>
              <a:gdLst/>
              <a:ahLst/>
              <a:cxnLst/>
              <a:rect r="r" b="b" t="t" l="l"/>
              <a:pathLst>
                <a:path h="1185538" w="663901">
                  <a:moveTo>
                    <a:pt x="0" y="0"/>
                  </a:moveTo>
                  <a:lnTo>
                    <a:pt x="663902" y="0"/>
                  </a:lnTo>
                  <a:lnTo>
                    <a:pt x="663902" y="1185538"/>
                  </a:lnTo>
                  <a:lnTo>
                    <a:pt x="0" y="1185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168885" y="3229776"/>
              <a:ext cx="875461" cy="1006277"/>
            </a:xfrm>
            <a:custGeom>
              <a:avLst/>
              <a:gdLst/>
              <a:ahLst/>
              <a:cxnLst/>
              <a:rect r="r" b="b" t="t" l="l"/>
              <a:pathLst>
                <a:path h="1006277" w="875461">
                  <a:moveTo>
                    <a:pt x="0" y="0"/>
                  </a:moveTo>
                  <a:lnTo>
                    <a:pt x="875461" y="0"/>
                  </a:lnTo>
                  <a:lnTo>
                    <a:pt x="875461" y="1006277"/>
                  </a:lnTo>
                  <a:lnTo>
                    <a:pt x="0" y="1006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5" id="15"/>
            <p:cNvSpPr/>
            <p:nvPr/>
          </p:nvSpPr>
          <p:spPr>
            <a:xfrm>
              <a:off x="3366411" y="2729742"/>
              <a:ext cx="10484256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8054702" y="3136717"/>
              <a:ext cx="846243" cy="575445"/>
            </a:xfrm>
            <a:custGeom>
              <a:avLst/>
              <a:gdLst/>
              <a:ahLst/>
              <a:cxnLst/>
              <a:rect r="r" b="b" t="t" l="l"/>
              <a:pathLst>
                <a:path h="575445" w="846243">
                  <a:moveTo>
                    <a:pt x="0" y="0"/>
                  </a:moveTo>
                  <a:lnTo>
                    <a:pt x="846243" y="0"/>
                  </a:lnTo>
                  <a:lnTo>
                    <a:pt x="846243" y="575445"/>
                  </a:lnTo>
                  <a:lnTo>
                    <a:pt x="0" y="57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7605091" y="3826735"/>
              <a:ext cx="1745465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b="true" sz="1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Access Point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-8916427">
              <a:off x="5859174" y="3224669"/>
              <a:ext cx="1430907" cy="1345053"/>
            </a:xfrm>
            <a:custGeom>
              <a:avLst/>
              <a:gdLst/>
              <a:ahLst/>
              <a:cxnLst/>
              <a:rect r="r" b="b" t="t" l="l"/>
              <a:pathLst>
                <a:path h="1345053" w="1430907">
                  <a:moveTo>
                    <a:pt x="0" y="0"/>
                  </a:moveTo>
                  <a:lnTo>
                    <a:pt x="1430908" y="0"/>
                  </a:lnTo>
                  <a:lnTo>
                    <a:pt x="1430908" y="1345053"/>
                  </a:lnTo>
                  <a:lnTo>
                    <a:pt x="0" y="1345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true" flipV="false" rot="8930685">
              <a:off x="9664722" y="3195280"/>
              <a:ext cx="1430907" cy="1345053"/>
            </a:xfrm>
            <a:custGeom>
              <a:avLst/>
              <a:gdLst/>
              <a:ahLst/>
              <a:cxnLst/>
              <a:rect r="r" b="b" t="t" l="l"/>
              <a:pathLst>
                <a:path h="1345053" w="1430907">
                  <a:moveTo>
                    <a:pt x="1430908" y="0"/>
                  </a:moveTo>
                  <a:lnTo>
                    <a:pt x="0" y="0"/>
                  </a:lnTo>
                  <a:lnTo>
                    <a:pt x="0" y="1345053"/>
                  </a:lnTo>
                  <a:lnTo>
                    <a:pt x="1430908" y="1345053"/>
                  </a:lnTo>
                  <a:lnTo>
                    <a:pt x="1430908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5757211" y="1750894"/>
              <a:ext cx="1985074" cy="1985074"/>
            </a:xfrm>
            <a:custGeom>
              <a:avLst/>
              <a:gdLst/>
              <a:ahLst/>
              <a:cxnLst/>
              <a:rect r="r" b="b" t="t" l="l"/>
              <a:pathLst>
                <a:path h="1985074" w="1985074">
                  <a:moveTo>
                    <a:pt x="0" y="0"/>
                  </a:moveTo>
                  <a:lnTo>
                    <a:pt x="1985073" y="0"/>
                  </a:lnTo>
                  <a:lnTo>
                    <a:pt x="1985073" y="1985073"/>
                  </a:lnTo>
                  <a:lnTo>
                    <a:pt x="0" y="1985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2144308" y="3479822"/>
              <a:ext cx="956483" cy="736492"/>
            </a:xfrm>
            <a:custGeom>
              <a:avLst/>
              <a:gdLst/>
              <a:ahLst/>
              <a:cxnLst/>
              <a:rect r="r" b="b" t="t" l="l"/>
              <a:pathLst>
                <a:path h="736492" w="956483">
                  <a:moveTo>
                    <a:pt x="0" y="0"/>
                  </a:moveTo>
                  <a:lnTo>
                    <a:pt x="956483" y="0"/>
                  </a:lnTo>
                  <a:lnTo>
                    <a:pt x="956483" y="736492"/>
                  </a:lnTo>
                  <a:lnTo>
                    <a:pt x="0" y="73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1208221" y="4374268"/>
              <a:ext cx="2828657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b="true" sz="1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Modem (Router)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729623" y="1994869"/>
              <a:ext cx="1745465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b="true" sz="1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Ağ Kartı (NIC)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729623" y="4303552"/>
              <a:ext cx="1745465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b="true" sz="1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Wi-Fi adaptörü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3982498"/>
              <a:ext cx="3366411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Bilgisayar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5066542" y="3876900"/>
              <a:ext cx="3366411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İnternet</a:t>
              </a:r>
            </a:p>
          </p:txBody>
        </p:sp>
        <p:sp>
          <p:nvSpPr>
            <p:cNvPr name="Freeform 27" id="27"/>
            <p:cNvSpPr/>
            <p:nvPr/>
          </p:nvSpPr>
          <p:spPr>
            <a:xfrm flipH="false" flipV="false" rot="2700000">
              <a:off x="7040073" y="563379"/>
              <a:ext cx="2672981" cy="2606157"/>
            </a:xfrm>
            <a:custGeom>
              <a:avLst/>
              <a:gdLst/>
              <a:ahLst/>
              <a:cxnLst/>
              <a:rect r="r" b="b" t="t" l="l"/>
              <a:pathLst>
                <a:path h="2606157" w="2672981">
                  <a:moveTo>
                    <a:pt x="0" y="0"/>
                  </a:moveTo>
                  <a:lnTo>
                    <a:pt x="2672982" y="0"/>
                  </a:lnTo>
                  <a:lnTo>
                    <a:pt x="2672982" y="2606156"/>
                  </a:lnTo>
                  <a:lnTo>
                    <a:pt x="0" y="2606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7503832" y="1140665"/>
              <a:ext cx="1745465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b="true" sz="1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Ethernet 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28662"/>
            <a:ext cx="11954638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2) DHCP nedir ve neden gereklidir?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90638"/>
            <a:ext cx="16639321" cy="804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DHCP (Dynamic Host Control Protocol), cihazların IP ağında çalışabilmesi için gerekli yapılandırma bilgilerini otomatik olarak almasını sağlayan uygulama katmanı protokolüdür.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DHCP üzerinden bilgisayarımız için örnek olarak şu bilgiler alınabilir: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IPv4 Address            :    192.168.1.131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Subnet Mask            :   255.255.255.0 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Default Gateway     :  192.168.1.1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DNS Server                :  192.168.1.1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Lease Time                :  24 saat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Hesaplananlar: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Network Addres      : 192.168.1.0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Broadcast Addres  : 192.168.1.255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Kullanılabilir Host Aralığı  : 192.168.1.1 - 192.168.1.254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DHCP, IPv4 için genellikle UDP kullanır.</a:t>
            </a:r>
          </a:p>
          <a:p>
            <a:pPr algn="l">
              <a:lnSpc>
                <a:spcPts val="2240"/>
              </a:lnSpc>
            </a:pP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İstemci Portu: UDP 68</a:t>
            </a: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Sunucu Portu: UDP 67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09991"/>
            <a:ext cx="5294977" cy="5632954"/>
          </a:xfrm>
          <a:custGeom>
            <a:avLst/>
            <a:gdLst/>
            <a:ahLst/>
            <a:cxnLst/>
            <a:rect r="r" b="b" t="t" l="l"/>
            <a:pathLst>
              <a:path h="5632954" w="5294977">
                <a:moveTo>
                  <a:pt x="0" y="0"/>
                </a:moveTo>
                <a:lnTo>
                  <a:pt x="5294977" y="0"/>
                </a:lnTo>
                <a:lnTo>
                  <a:pt x="5294977" y="5632955"/>
                </a:lnTo>
                <a:lnTo>
                  <a:pt x="0" y="5632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28662"/>
            <a:ext cx="11954638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2.1) DHCP DORA süreci: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290638"/>
            <a:ext cx="16639321" cy="861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DHCP’nin en bilinen çalışma mekanizması 4 aşamadan oluşur: Discover, Offer, Request, Acknowledge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221976" y="2350614"/>
            <a:ext cx="10037324" cy="716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DHCP Discover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Bilgisayar henüz DHCP sunucusunun adresini bilmediği için ağda DHCP sunucusu arar. 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İlk DHCPDISCOVER mesajı genellikle</a:t>
            </a: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broadcast (çoklu gönderim)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olarak gönderilir.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DHCP Offer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DHCP sunucusu uygun bir IP adresi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öner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ir.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DHCP Request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Bilgisayar seçtiği teklifi DHCPREQUEST mesajıyla talep eder.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DHCP ACK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Sunucu DHCPACK göndererek IP kiralamasını onaylar.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DHCP lease süresi boyunca cihaz adresi kullanabilir. Süre dolmadan önce DHCPREQUEST ile kiralamayı </a:t>
            </a:r>
            <a:r>
              <a:rPr lang="en-US" b="true" sz="16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yenilemeye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çalışabilir.</a:t>
            </a:r>
          </a:p>
          <a:p>
            <a:pPr algn="l">
              <a:lnSpc>
                <a:spcPts val="2240"/>
              </a:lnSpc>
            </a:pP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DHCP, google.com yazıldığında her defasında çalışmaz. Genellikle </a:t>
            </a:r>
            <a:r>
              <a:rPr lang="en-US" b="true" sz="16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ağa ilk katılma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b="true" sz="16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kiralama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b="true" sz="16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yenileme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veya </a:t>
            </a:r>
            <a:r>
              <a:rPr lang="en-US" b="true" sz="16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yeniden yapılandırma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durumlarında devreye girer.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28662"/>
            <a:ext cx="11954638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3) Tarayıcıya google.com yazılıyor: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90638"/>
            <a:ext cx="16639321" cy="183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Tarayıcı URL’i işler: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google.com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Tarayıcı metni URL veya arama sorgusu olarak yorumlar. Bu senaryoda alan adı olarak tanır ve HTTPS ile erişmeye karar verir.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765802"/>
            <a:ext cx="16639321" cy="338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b="true" sz="16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https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Kullanılacak şemadır.</a:t>
            </a:r>
          </a:p>
          <a:p>
            <a:pPr algn="l">
              <a:lnSpc>
                <a:spcPts val="2240"/>
              </a:lnSpc>
            </a:pP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b="true" sz="16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google.com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hedef alan adıdır.</a:t>
            </a:r>
          </a:p>
          <a:p>
            <a:pPr algn="l">
              <a:lnSpc>
                <a:spcPts val="2240"/>
              </a:lnSpc>
            </a:pP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b="true" sz="16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443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varsayılan HTTPS portudur.</a:t>
            </a:r>
          </a:p>
          <a:p>
            <a:pPr algn="l">
              <a:lnSpc>
                <a:spcPts val="2240"/>
              </a:lnSpc>
            </a:pP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b="true" sz="16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/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istenen kaynağın yoludur.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Tarayıcı daha önce açılmış bir bağlantıyı veya önbellekteki kaynakları kullanamıyorsa yeni ağ işlemleri başlatır.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245572" y="3602252"/>
            <a:ext cx="14205577" cy="1723523"/>
            <a:chOff x="0" y="0"/>
            <a:chExt cx="18940769" cy="229803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4947102" y="847863"/>
              <a:ext cx="8501604" cy="1053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19"/>
                </a:lnSpc>
              </a:pPr>
              <a:r>
                <a:rPr lang="en-US" b="true" sz="47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  <a:hlinkClick r:id="rId2" tooltip="https://google.com"/>
                </a:rPr>
                <a:t>https://google.com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40769" cy="2298031"/>
            </a:xfrm>
            <a:custGeom>
              <a:avLst/>
              <a:gdLst/>
              <a:ahLst/>
              <a:cxnLst/>
              <a:rect r="r" b="b" t="t" l="l"/>
              <a:pathLst>
                <a:path h="2298031" w="18940769">
                  <a:moveTo>
                    <a:pt x="0" y="0"/>
                  </a:moveTo>
                  <a:lnTo>
                    <a:pt x="18940769" y="0"/>
                  </a:lnTo>
                  <a:lnTo>
                    <a:pt x="18940769" y="2298031"/>
                  </a:lnTo>
                  <a:lnTo>
                    <a:pt x="0" y="2298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225" t="-343716" r="-24108" b="-434115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1098" y="4926268"/>
            <a:ext cx="10945804" cy="4791147"/>
          </a:xfrm>
          <a:custGeom>
            <a:avLst/>
            <a:gdLst/>
            <a:ahLst/>
            <a:cxnLst/>
            <a:rect r="r" b="b" t="t" l="l"/>
            <a:pathLst>
              <a:path h="4791147" w="10945804">
                <a:moveTo>
                  <a:pt x="0" y="0"/>
                </a:moveTo>
                <a:lnTo>
                  <a:pt x="10945804" y="0"/>
                </a:lnTo>
                <a:lnTo>
                  <a:pt x="10945804" y="4791147"/>
                </a:lnTo>
                <a:lnTo>
                  <a:pt x="0" y="47911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422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28662"/>
            <a:ext cx="11954638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4) DNS çözümleme: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290638"/>
            <a:ext cx="9552721" cy="334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google.com'un</a:t>
            </a: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IP adresi nasıl bulunur?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Bilgisayarın hedef sunucuyla iletişim kurabilmesi için hedef IP adresini belirlemesi gerekir.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DNS çözümleme sürecinde sistem, yapılandırmasına bağlı olarak:</a:t>
            </a:r>
          </a:p>
          <a:p>
            <a:pPr algn="l">
              <a:lnSpc>
                <a:spcPts val="2240"/>
              </a:lnSpc>
            </a:pP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Tarayıcı önbelleğini</a:t>
            </a: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İşletim sistemi önbelleğini</a:t>
            </a: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Hosts dosyasını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değerlendirebilir. Kayıt bulunamazsa DNS resolver'a sorgu gönderilir.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28662"/>
            <a:ext cx="11954638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5) DNS Subnetting ve Routing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90637"/>
            <a:ext cx="14091300" cy="805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Bilgisayar hedefin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yerel ağda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olup olmadığını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nasıl 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r?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DNS sayesinde google.com adresinin IP adresini öğrendik. Şimdi bilgisayarımız bu IP adresine nasıl ulaşacağını belirlemelidir.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Bilgisayarımızın ağ </a:t>
            </a: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bilg</a:t>
            </a: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ileri: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IP Address       :  192.168.1.131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Subnet             :  255.255.255.0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Gateway          :  192.168.1.1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Subnet maskesi </a:t>
            </a: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/24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anlamına gelir.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Yani ağımız: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192.168.1.0/24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 ağdaki tipik kull</a:t>
            </a: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anılabilir host aralığı: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192.168.1.1 – 192.168.1.254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Google'ın IP adresi bu subnet'in dışındadır. (142.250.x.x)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Routing Table kontrol edilir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Routing Table (Yönlendirme Tablosu), bilgisayarın IP paketlerini hangi ağ arayüzü üzerinden ve hangi sonraki noktaya göndereceğini belirlemek için kullandığı tablodur.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1485" y="5549271"/>
            <a:ext cx="10340245" cy="4312400"/>
          </a:xfrm>
          <a:custGeom>
            <a:avLst/>
            <a:gdLst/>
            <a:ahLst/>
            <a:cxnLst/>
            <a:rect r="r" b="b" t="t" l="l"/>
            <a:pathLst>
              <a:path h="4312400" w="10340245">
                <a:moveTo>
                  <a:pt x="0" y="0"/>
                </a:moveTo>
                <a:lnTo>
                  <a:pt x="10340245" y="0"/>
                </a:lnTo>
                <a:lnTo>
                  <a:pt x="10340245" y="4312400"/>
                </a:lnTo>
                <a:lnTo>
                  <a:pt x="0" y="431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4" r="0" b="-1066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983338" y="7705471"/>
            <a:ext cx="1321497" cy="1285427"/>
            <a:chOff x="0" y="0"/>
            <a:chExt cx="348049" cy="3385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8049" cy="338549"/>
            </a:xfrm>
            <a:custGeom>
              <a:avLst/>
              <a:gdLst/>
              <a:ahLst/>
              <a:cxnLst/>
              <a:rect r="r" b="b" t="t" l="l"/>
              <a:pathLst>
                <a:path h="338549" w="348049">
                  <a:moveTo>
                    <a:pt x="0" y="0"/>
                  </a:moveTo>
                  <a:lnTo>
                    <a:pt x="348049" y="0"/>
                  </a:lnTo>
                  <a:lnTo>
                    <a:pt x="348049" y="338549"/>
                  </a:lnTo>
                  <a:lnTo>
                    <a:pt x="0" y="338549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48049" cy="386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50203" y="7672404"/>
            <a:ext cx="251898" cy="161150"/>
            <a:chOff x="0" y="0"/>
            <a:chExt cx="66343" cy="424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343" cy="42443"/>
            </a:xfrm>
            <a:custGeom>
              <a:avLst/>
              <a:gdLst/>
              <a:ahLst/>
              <a:cxnLst/>
              <a:rect r="r" b="b" t="t" l="l"/>
              <a:pathLst>
                <a:path h="42443" w="66343">
                  <a:moveTo>
                    <a:pt x="0" y="0"/>
                  </a:moveTo>
                  <a:lnTo>
                    <a:pt x="66343" y="0"/>
                  </a:lnTo>
                  <a:lnTo>
                    <a:pt x="66343" y="42443"/>
                  </a:lnTo>
                  <a:lnTo>
                    <a:pt x="0" y="42443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66343" cy="90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858110" y="7672404"/>
            <a:ext cx="251898" cy="161150"/>
            <a:chOff x="0" y="0"/>
            <a:chExt cx="66343" cy="424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343" cy="42443"/>
            </a:xfrm>
            <a:custGeom>
              <a:avLst/>
              <a:gdLst/>
              <a:ahLst/>
              <a:cxnLst/>
              <a:rect r="r" b="b" t="t" l="l"/>
              <a:pathLst>
                <a:path h="42443" w="66343">
                  <a:moveTo>
                    <a:pt x="0" y="0"/>
                  </a:moveTo>
                  <a:lnTo>
                    <a:pt x="66343" y="0"/>
                  </a:lnTo>
                  <a:lnTo>
                    <a:pt x="66343" y="42443"/>
                  </a:lnTo>
                  <a:lnTo>
                    <a:pt x="0" y="42443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6343" cy="90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59964" y="9230242"/>
            <a:ext cx="1077579" cy="284876"/>
            <a:chOff x="0" y="0"/>
            <a:chExt cx="283807" cy="750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3807" cy="75029"/>
            </a:xfrm>
            <a:custGeom>
              <a:avLst/>
              <a:gdLst/>
              <a:ahLst/>
              <a:cxnLst/>
              <a:rect r="r" b="b" t="t" l="l"/>
              <a:pathLst>
                <a:path h="75029" w="283807">
                  <a:moveTo>
                    <a:pt x="0" y="0"/>
                  </a:moveTo>
                  <a:lnTo>
                    <a:pt x="283807" y="0"/>
                  </a:lnTo>
                  <a:lnTo>
                    <a:pt x="283807" y="75029"/>
                  </a:lnTo>
                  <a:lnTo>
                    <a:pt x="0" y="75029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83807" cy="122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772537" y="9454708"/>
            <a:ext cx="1807094" cy="284876"/>
            <a:chOff x="0" y="0"/>
            <a:chExt cx="475943" cy="750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5943" cy="75029"/>
            </a:xfrm>
            <a:custGeom>
              <a:avLst/>
              <a:gdLst/>
              <a:ahLst/>
              <a:cxnLst/>
              <a:rect r="r" b="b" t="t" l="l"/>
              <a:pathLst>
                <a:path h="75029" w="475943">
                  <a:moveTo>
                    <a:pt x="0" y="0"/>
                  </a:moveTo>
                  <a:lnTo>
                    <a:pt x="475943" y="0"/>
                  </a:lnTo>
                  <a:lnTo>
                    <a:pt x="475943" y="75029"/>
                  </a:lnTo>
                  <a:lnTo>
                    <a:pt x="0" y="75029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75943" cy="122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112497" y="7884033"/>
            <a:ext cx="1248568" cy="792276"/>
            <a:chOff x="0" y="0"/>
            <a:chExt cx="328841" cy="2086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8841" cy="208665"/>
            </a:xfrm>
            <a:custGeom>
              <a:avLst/>
              <a:gdLst/>
              <a:ahLst/>
              <a:cxnLst/>
              <a:rect r="r" b="b" t="t" l="l"/>
              <a:pathLst>
                <a:path h="208665" w="328841">
                  <a:moveTo>
                    <a:pt x="0" y="0"/>
                  </a:moveTo>
                  <a:lnTo>
                    <a:pt x="328841" y="0"/>
                  </a:lnTo>
                  <a:lnTo>
                    <a:pt x="328841" y="208665"/>
                  </a:lnTo>
                  <a:lnTo>
                    <a:pt x="0" y="208665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28841" cy="256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772537" y="7768389"/>
            <a:ext cx="2210801" cy="1746729"/>
            <a:chOff x="0" y="0"/>
            <a:chExt cx="582269" cy="4600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2269" cy="460044"/>
            </a:xfrm>
            <a:custGeom>
              <a:avLst/>
              <a:gdLst/>
              <a:ahLst/>
              <a:cxnLst/>
              <a:rect r="r" b="b" t="t" l="l"/>
              <a:pathLst>
                <a:path h="460044" w="582269">
                  <a:moveTo>
                    <a:pt x="0" y="0"/>
                  </a:moveTo>
                  <a:lnTo>
                    <a:pt x="582269" y="0"/>
                  </a:lnTo>
                  <a:lnTo>
                    <a:pt x="582269" y="460044"/>
                  </a:lnTo>
                  <a:lnTo>
                    <a:pt x="0" y="460044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582269" cy="507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28700" y="728662"/>
            <a:ext cx="11954638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5) DNS Subnetting ve Routing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1309688"/>
            <a:ext cx="14280054" cy="412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Bilgisayar, Google'ın IP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adresi için en uygun rotayı arar.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Google'ın IP adresi 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192.168.1.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0/24 ağına ait olmadığı ve örneğimizde daha özel bir rota bu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unm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adı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ğ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ı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için </a:t>
            </a: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0.0.0.0/0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(Default Route) seçilir.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Default Gateway devr</a:t>
            </a:r>
            <a:r>
              <a:rPr lang="en-US" sz="15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eye girer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Default Gateway (Varsayılan Ağ Geçidi), bilgisayarın yerel ağ dışındaki hedeflere ulaşmak için paketlerini gönderdiği yönlendiricidir.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Bizim örneğimizde Default Gateway: 192.168.1.1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Bilgisayar, Google'ın IP adresinin yerel ağ dışında olduğunu belirler. Routing Table üzerinden en uygun rotayı seçer ve paketi Default Gateway'e (192.168.1.1) göndermeye karar verir. Ancak paketi yerel ağ üzerinden iletebilmek için önce </a:t>
            </a:r>
            <a:r>
              <a:rPr lang="en-US" sz="15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Gateway'in MAC adresini </a:t>
            </a: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bilmesi gerekir.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Paketin izleyeceği yol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0666680" y="7884033"/>
            <a:ext cx="1995819" cy="1000434"/>
          </a:xfrm>
          <a:custGeom>
            <a:avLst/>
            <a:gdLst/>
            <a:ahLst/>
            <a:cxnLst/>
            <a:rect r="r" b="b" t="t" l="l"/>
            <a:pathLst>
              <a:path h="1000434" w="1995819">
                <a:moveTo>
                  <a:pt x="0" y="0"/>
                </a:moveTo>
                <a:lnTo>
                  <a:pt x="1995818" y="0"/>
                </a:lnTo>
                <a:lnTo>
                  <a:pt x="1995818" y="1000434"/>
                </a:lnTo>
                <a:lnTo>
                  <a:pt x="0" y="1000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9615" t="-356861" r="-286346" b="-37848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28662"/>
            <a:ext cx="1381962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6) Gateway'in MAC adresi nasıl bulunur? (ARP)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90637"/>
            <a:ext cx="13770328" cy="804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Gateway'in MAC adresi nasıl bulunur?</a:t>
            </a:r>
          </a:p>
          <a:p>
            <a:pPr algn="l">
              <a:lnSpc>
                <a:spcPts val="2240"/>
              </a:lnSpc>
            </a:pP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Bilgisayarımız ar</a:t>
            </a: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ık</a:t>
            </a: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paketi</a:t>
            </a: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hangi IP adresine göndereceğini bili</a:t>
            </a: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yo</a:t>
            </a: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r: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Default Gateway: 192.168.1.1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Ancak Ethernet veya Wi-Fi üzerinden IPv4 paketini iletmek için Gateway'in MAC adresini de öğrenmesi gerekir.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ARP tablosu kontrol edilir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Bilgisayar, Gateway'in MAC adresinin daha önce öğrenilip öğrenilmediğini kontrol eder.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Kayıt yoksa ARP (Address Resolution Protocol) devreye girer.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ARP Request gönderilir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Bilgisayar yerel ağa Broadcast mesajı gönderir: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Who has 192.168.1.1?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Tell 192.168.1.131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Yani: "192.168.1.1 IP adresi kime ait? MAC adresini bana bildir."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Gateway cevap verir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Gateway, ARP Reply mesajıyla MAC adresini bildirir: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192.168.1.1 is at AA:BB:CC:DD:EE:FF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Bilgisayar bu bilgiyi ARP tablosuna kaydeder.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66922" y="4007258"/>
            <a:ext cx="11354156" cy="5677078"/>
          </a:xfrm>
          <a:custGeom>
            <a:avLst/>
            <a:gdLst/>
            <a:ahLst/>
            <a:cxnLst/>
            <a:rect r="r" b="b" t="t" l="l"/>
            <a:pathLst>
              <a:path h="5677078" w="11354156">
                <a:moveTo>
                  <a:pt x="0" y="0"/>
                </a:moveTo>
                <a:lnTo>
                  <a:pt x="11354156" y="0"/>
                </a:lnTo>
                <a:lnTo>
                  <a:pt x="11354156" y="5677078"/>
                </a:lnTo>
                <a:lnTo>
                  <a:pt x="0" y="56770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28662"/>
            <a:ext cx="14824868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6) Gateway'in MAC adresi nasıl bulunur? (ARP)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290637"/>
            <a:ext cx="16481835" cy="307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Paket Gateway'e iletilir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Bilgisayar artık hem Google'ın IP adresini 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hem de Gateway'in MAC adresini biliyor.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 bilgilerle Ethernet veya Wi-Fi bağlantısına uygun çerçeveyi oluşturur ve paketi Gateway'e iletir.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Önemli ayrım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Google'ın IP adresi paketin nihai hedefidir. Gateway'in MAC adresi ise yerel ağda paketin teslim edileceği sonraki noktayı belirler.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68461" y="4924108"/>
            <a:ext cx="12990702" cy="4591441"/>
          </a:xfrm>
          <a:custGeom>
            <a:avLst/>
            <a:gdLst/>
            <a:ahLst/>
            <a:cxnLst/>
            <a:rect r="r" b="b" t="t" l="l"/>
            <a:pathLst>
              <a:path h="4591441" w="12990702">
                <a:moveTo>
                  <a:pt x="0" y="0"/>
                </a:moveTo>
                <a:lnTo>
                  <a:pt x="12990702" y="0"/>
                </a:lnTo>
                <a:lnTo>
                  <a:pt x="12990702" y="4591441"/>
                </a:lnTo>
                <a:lnTo>
                  <a:pt x="0" y="4591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9" t="-39110" r="0" b="-2118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28625"/>
            <a:ext cx="14830463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7) NAT ile özel IP adresi genel IP adresine dönüştürülür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590675"/>
            <a:ext cx="16481835" cy="3728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Bilgisayarımız, Google'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göndermek istediği paketi Default Gateway'e (192.168.1.1) iletti.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Ancak b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ilgisayarımızın IP adresi 192.168.1.131,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özel (Private) IP adresidir ve internette doğrudan yönlendirilemez.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 nedenle ev ağlarında genellikle </a:t>
            </a:r>
            <a:r>
              <a:rPr lang="en-US" b="true" sz="18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NAT (Network Address Translation)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kullanılır.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NAT,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router'ın yerel ağdaki özel IP adresini internet bağlantısında kullanılan genel (Public) IP adresine dönüştürmesini sağlar. Bu noktada Port da değiştirilebilir.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Router, bu IP ve port eşleştirmesini NAT tablosunda saklar. Böylece Google'dan yanıt geldiğinde paketin yerel ağdaki hangi bilgisayara gönderileceğini bilir.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90675"/>
            <a:ext cx="16481835" cy="5928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NAT 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işleminin ardından paket, ISS (İnternet Servis Sağlayıcısı) ağına iletilir.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ISS,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b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ilgisayarımızın internet üzerindeki diğer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ağlara erişmesini sağlayan operatördür.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Paket, ISS'nin altyapısında bulunan router'lar üzerinden hedef ağa doğru ilerler.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 süreçte: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Paket ISS'nin ağındaki bir router'a ulaşır.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outer, paketin hedef IP adresini kontrol eder.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Routing Table üzerinden en uygun sonraki noktayı belirler.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Paket, gerektiğinde birden fazla router üzerinden geçirilerek hedef ağa doğru iletilir.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ISS ağlarında</a:t>
            </a:r>
            <a:r>
              <a:rPr lang="en-US" b="true" sz="18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OSPF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veya </a:t>
            </a:r>
            <a:r>
              <a:rPr lang="en-US" b="true" sz="18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IS-IS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gibi dinamik yönlendirme protokolleri kullanılabilir.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 protokoller, router'ların ağ içindeki rotaları öğrenmesine ve uygun yolları hesaplamasına yardımcı olur.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Önemli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Router'lar her paket için sıfırdan rota hesaplamaz. Önceden oluşturulmuş iletim tablolarını kullanarak paketleri yönlendirir.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246334" y="7519670"/>
            <a:ext cx="8395194" cy="2153857"/>
          </a:xfrm>
          <a:custGeom>
            <a:avLst/>
            <a:gdLst/>
            <a:ahLst/>
            <a:cxnLst/>
            <a:rect r="r" b="b" t="t" l="l"/>
            <a:pathLst>
              <a:path h="2153857" w="8395194">
                <a:moveTo>
                  <a:pt x="0" y="0"/>
                </a:moveTo>
                <a:lnTo>
                  <a:pt x="8395195" y="0"/>
                </a:lnTo>
                <a:lnTo>
                  <a:pt x="8395195" y="2153857"/>
                </a:lnTo>
                <a:lnTo>
                  <a:pt x="0" y="2153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2937" r="0" b="-6631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28700"/>
            <a:ext cx="14830463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8) Paket ISS üzerinden internete yönlendirilir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90675"/>
            <a:ext cx="16481835" cy="5928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İnternet, birbirine bağlı çok sayıda bağımsız ağdan oluşur. Bu ağlara </a:t>
            </a:r>
            <a:r>
              <a:rPr lang="en-US" sz="18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AS (Autonomous System – Otonom Sistem)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denir.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Örneğin:</a:t>
            </a:r>
          </a:p>
          <a:p>
            <a:pPr algn="l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İnternet servis sağlayıcımızın kendi AS ağı bulunur.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Google'ın AS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numara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sı AS15169'dur.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Farklı otonom sistemlerin birbir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lerine hangi IP ağlarına ulaşabildiklerini bildirmesi için BGP (Border Gateway Protocol) kullanılır.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BGP nasıl çalışır?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Rota bilgileri paylaşılır: Ağlar, ulaşılabilir IP adres bloklarını BGP aracılığıyla diğer ağlara duyurur.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Uygun rota seçilir: Router'lar, BGP politikalarını ve rota özelliklerini değerlendirerek hedef ağa ulaşmak için uygun yolu belirler.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aket iletilir: Paket, yönlendirme tabloları kullanılarak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Google'ın ağına doğru gönderilir.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Ö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ği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zde paket, ISS ağından geçerek doğrudan veya diğer operatörler üzerinden Google'ın ağına (AS15169) ulaşabilir.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Google'ın ağına ulaştıktan sonra da hedef IP adresine doğru yönlendirme devam eder.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778919" y="7519670"/>
            <a:ext cx="8981397" cy="2111650"/>
          </a:xfrm>
          <a:custGeom>
            <a:avLst/>
            <a:gdLst/>
            <a:ahLst/>
            <a:cxnLst/>
            <a:rect r="r" b="b" t="t" l="l"/>
            <a:pathLst>
              <a:path h="2111650" w="8981397">
                <a:moveTo>
                  <a:pt x="0" y="0"/>
                </a:moveTo>
                <a:lnTo>
                  <a:pt x="8981397" y="0"/>
                </a:lnTo>
                <a:lnTo>
                  <a:pt x="8981397" y="2111650"/>
                </a:lnTo>
                <a:lnTo>
                  <a:pt x="0" y="211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4454" r="0" b="-7479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28700"/>
            <a:ext cx="14830463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9) BGP ile Google'ın ağına ulaşılır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28625"/>
            <a:ext cx="11954638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10) İstek Google'ın ağına nasıl ulaşır? (Google Edge Altyapısı)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590675"/>
            <a:ext cx="15625646" cy="781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aketimiz 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BGP say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esin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 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Google'ı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ğ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ı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 u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şt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ı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 Anc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ak Google, dünyanın farklı bölge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rinde çok sayı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 sunucu ve veri m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erkezi bulunan büyük bir altyapıya sahiptir.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Peki gelen trafik hangi noktaya ulaşacak ve nasıl işlenecek?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 aşamada </a:t>
            </a:r>
            <a:r>
              <a:rPr lang="en-US" sz="18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Google Edge altyapısı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devreye girer.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Anycast – Uygun ağ giriş noktasına ulaşma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Anycast, aynı IP adresinin farklı coğrafi noktalardan duyurulabilmesini sağlayan bir adresleme ve yönlendirme yaklaşımıdır.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Böy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lece kullanıcı, BGP yönlendirme politikalarına göre uygun Google ağ giriş noktalarından birine ulaşabilir.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 nokta her zaman coğrafi olarak en yakın yer olmak zorunda değildir.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Firewall / DDoS Koruması – Trafiğin kontrol edilmesi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Google altyapısına gelen trafik, güvenlik mekanizmaları tarafından kontrol edilebilir.</a:t>
            </a:r>
          </a:p>
          <a:p>
            <a:pPr algn="l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Zararlı veya şüpheli trafik filtrelenebilir.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DDoS saldırılarına karşı koruma uygulanabilir.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Trafik güvenlik politikalarına göre değerlendirilebilir.</a:t>
            </a:r>
          </a:p>
          <a:p>
            <a:pPr algn="l">
              <a:lnSpc>
                <a:spcPts val="2520"/>
              </a:lnSpc>
            </a:pP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28625"/>
            <a:ext cx="11954638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10) İstek Google'ın ağına nasıl ulaşır? (Google Edge Altyapısı)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590675"/>
            <a:ext cx="15625646" cy="494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Load Balancer – Trafiğin dağıtı</a:t>
            </a:r>
            <a:r>
              <a:rPr lang="en-US" sz="18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lması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Load Bal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ancer (Yü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 Dengeleyici), gelen bağlantıları veya istek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ri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ygun su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nucu ya da servis gruplarına dağıtır.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Böy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lece trafik tek bir sunucuda y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oğ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unlaşmaz ve hizmetin sürekliliği desteklenir.</a:t>
            </a:r>
          </a:p>
          <a:p>
            <a:pPr algn="l">
              <a:lnSpc>
                <a:spcPts val="2520"/>
              </a:lnSpc>
            </a:pPr>
          </a:p>
          <a:p>
            <a:pPr algn="just">
              <a:lnSpc>
                <a:spcPts val="223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Reverse Proxy – İsteklerin arka uç sistemlere iletilmesi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Reverse Proxy (Ters Vekil Sunucu), istemci ile arka uç sunucular arasında konumlanan bir bileşendir.</a:t>
            </a:r>
          </a:p>
          <a:p>
            <a:pPr algn="just">
              <a:lnSpc>
                <a:spcPts val="2519"/>
              </a:lnSpc>
            </a:pPr>
          </a:p>
          <a:p>
            <a:pPr algn="just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İstekleri karşılayabilir.</a:t>
            </a:r>
          </a:p>
          <a:p>
            <a:pPr algn="just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TLS bağlantısını sonlandırabilir.</a:t>
            </a:r>
          </a:p>
          <a:p>
            <a:pPr algn="just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İstekleri uygun backend servisine yönlendirebilir.</a:t>
            </a:r>
          </a:p>
          <a:p>
            <a:pPr algn="just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Önbellekleme gibi işlemler gerçekleştirebilir.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266639"/>
            <a:ext cx="11520729" cy="2668793"/>
          </a:xfrm>
          <a:custGeom>
            <a:avLst/>
            <a:gdLst/>
            <a:ahLst/>
            <a:cxnLst/>
            <a:rect r="r" b="b" t="t" l="l"/>
            <a:pathLst>
              <a:path h="2668793" w="11520729">
                <a:moveTo>
                  <a:pt x="0" y="0"/>
                </a:moveTo>
                <a:lnTo>
                  <a:pt x="11520729" y="0"/>
                </a:lnTo>
                <a:lnTo>
                  <a:pt x="11520729" y="2668793"/>
                </a:lnTo>
                <a:lnTo>
                  <a:pt x="0" y="26687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28625"/>
            <a:ext cx="11954638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11) Güvenli bağlantı nasıl kurulur? (TCP, QUIC ve TLS)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590675"/>
            <a:ext cx="15625646" cy="215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ketimiz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Goog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'ın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ağ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ı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ul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ş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tı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 Şi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 tar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ayıcı i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 Google arasında</a:t>
            </a:r>
            <a:r>
              <a:rPr lang="en-US" sz="18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güvenli bir ba</a:t>
            </a:r>
            <a:r>
              <a:rPr lang="en-US" sz="18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ğlantı kurulması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gerekiyor.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HTT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ile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ş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imi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nde kullanılan HTTP sürümüne göre bağlantı kurulma yöntemi değişebilir.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28625"/>
            <a:ext cx="11954638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11) Güvenli bağlantı nasıl kurulur? (TCP, QUIC ve TLS)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590675"/>
            <a:ext cx="15625646" cy="470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TCP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– Ba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ğlantı kurulması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HTTP/1.1 veya HTTP/2, TCP üzerinden kullanılıyorsa önce TCP Three-Way Handshake (Üçlü El Sıkışma) gerçekleştirilir.</a:t>
            </a: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 işlem, istemci ile sunucu arasında TCP bağlantısını kurar.</a:t>
            </a:r>
          </a:p>
          <a:p>
            <a:pPr algn="just">
              <a:lnSpc>
                <a:spcPts val="2519"/>
              </a:lnSpc>
            </a:pPr>
          </a:p>
          <a:p>
            <a:pPr algn="just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b="true" sz="17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SYN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Bilgisayar sunucuya bağlantı isteği gönderir.</a:t>
            </a:r>
          </a:p>
          <a:p>
            <a:pPr algn="just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b="true" sz="17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SYN-ACK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Sunucu isteği kabul ettiğini bildirir ve karşılık verir.</a:t>
            </a:r>
          </a:p>
          <a:p>
            <a:pPr algn="just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b="true" sz="17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ACK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Bilgisayar sunucunun yanıtını onaylar.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 üç adımın ardından TCP bağlantısı kurulmuş olur.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Ancak TCP tek başına şifreleme sağlamaz. Güvenli iletişim için TLS gerekir.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834538" y="3192560"/>
            <a:ext cx="5819808" cy="5742796"/>
          </a:xfrm>
          <a:custGeom>
            <a:avLst/>
            <a:gdLst/>
            <a:ahLst/>
            <a:cxnLst/>
            <a:rect r="r" b="b" t="t" l="l"/>
            <a:pathLst>
              <a:path h="5742796" w="5819808">
                <a:moveTo>
                  <a:pt x="0" y="0"/>
                </a:moveTo>
                <a:lnTo>
                  <a:pt x="5819808" y="0"/>
                </a:lnTo>
                <a:lnTo>
                  <a:pt x="5819808" y="5742796"/>
                </a:lnTo>
                <a:lnTo>
                  <a:pt x="0" y="5742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390" t="0" r="-1776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2821678" y="7915819"/>
            <a:ext cx="1845527" cy="622592"/>
            <a:chOff x="0" y="0"/>
            <a:chExt cx="486065" cy="1639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6065" cy="163975"/>
            </a:xfrm>
            <a:custGeom>
              <a:avLst/>
              <a:gdLst/>
              <a:ahLst/>
              <a:cxnLst/>
              <a:rect r="r" b="b" t="t" l="l"/>
              <a:pathLst>
                <a:path h="163975" w="486065">
                  <a:moveTo>
                    <a:pt x="0" y="0"/>
                  </a:moveTo>
                  <a:lnTo>
                    <a:pt x="486065" y="0"/>
                  </a:lnTo>
                  <a:lnTo>
                    <a:pt x="486065" y="163975"/>
                  </a:lnTo>
                  <a:lnTo>
                    <a:pt x="0" y="1639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6065" cy="21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28625"/>
            <a:ext cx="11954638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11) Güvenli bağlantı nasıl kurulur? (TCP, QUIC ve TLS)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590675"/>
            <a:ext cx="10500294" cy="7536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TLS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– Güvenli ba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ğlantı oluşturulması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TLS (Transport Layer Security), tarayıcı ile sunucu arasındaki iletişimin şifrelenmesini ve sunucu kimliğinin doğrulanmasını sağlayan güvenlik protokolüdür.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TCP bağlantısı kurulduktan sonra TLS Handshake başlar.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TLS 1.3 için basitleştirilmiş süreç:</a:t>
            </a:r>
          </a:p>
          <a:p>
            <a:pPr algn="just">
              <a:lnSpc>
                <a:spcPts val="2519"/>
              </a:lnSpc>
            </a:pPr>
          </a:p>
          <a:p>
            <a:pPr algn="just" marL="388618" indent="-194309" lvl="1">
              <a:lnSpc>
                <a:spcPts val="2519"/>
              </a:lnSpc>
              <a:buAutoNum type="arabicPeriod" startAt="1"/>
            </a:pPr>
            <a:r>
              <a:rPr lang="en-US" b="true" sz="17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ClientHello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Tarayıcı desteklediği şifreleme seçeneklerini ve anahtar paylaşımı bilgilerini gönderir.</a:t>
            </a:r>
          </a:p>
          <a:p>
            <a:pPr algn="just" marL="388618" indent="-194309" lvl="1">
              <a:lnSpc>
                <a:spcPts val="2519"/>
              </a:lnSpc>
              <a:buAutoNum type="arabicPeriod" startAt="1"/>
            </a:pPr>
            <a:r>
              <a:rPr lang="en-US" b="true" sz="17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ServerHello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Sunucu kullanılacak kriptografik parametreleri seçer ve kendi anahtar paylaşımı bilgisini gönderir.</a:t>
            </a:r>
          </a:p>
          <a:p>
            <a:pPr algn="just" marL="388618" indent="-194309" lvl="1">
              <a:lnSpc>
                <a:spcPts val="2519"/>
              </a:lnSpc>
              <a:buAutoNum type="arabicPeriod" startAt="1"/>
            </a:pPr>
            <a:r>
              <a:rPr lang="en-US" b="true" sz="17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Sertifika doğrulama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Sunucu sertifikasını ve kimlik doğrulama bilgilerini iletir. Tarayıcı sertifikayı kontrol eder.</a:t>
            </a:r>
          </a:p>
          <a:p>
            <a:pPr algn="just" marL="388618" indent="-194309" lvl="1">
              <a:lnSpc>
                <a:spcPts val="2519"/>
              </a:lnSpc>
              <a:buAutoNum type="arabicPeriod" startAt="1"/>
            </a:pPr>
            <a:r>
              <a:rPr lang="en-US" b="true" sz="17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Şifreleme anahtarları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Taraflar ortak anahtar materyalinden oturum anahtarlarını türetir.</a:t>
            </a:r>
          </a:p>
          <a:p>
            <a:pPr algn="just" marL="388618" indent="-194309" lvl="1">
              <a:lnSpc>
                <a:spcPts val="2519"/>
              </a:lnSpc>
              <a:buAutoNum type="arabicPeriod" startAt="1"/>
            </a:pPr>
            <a:r>
              <a:rPr lang="en-US" b="true" sz="17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Finished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Handshake mesajları doğrulanır ve güvenli bağlantı tamamlanır.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Böylece HTTP verileri şifrelenerek iletilebilir.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2821678" y="7915819"/>
            <a:ext cx="1845527" cy="622592"/>
            <a:chOff x="0" y="0"/>
            <a:chExt cx="486065" cy="1639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6065" cy="163975"/>
            </a:xfrm>
            <a:custGeom>
              <a:avLst/>
              <a:gdLst/>
              <a:ahLst/>
              <a:cxnLst/>
              <a:rect r="r" b="b" t="t" l="l"/>
              <a:pathLst>
                <a:path h="163975" w="486065">
                  <a:moveTo>
                    <a:pt x="0" y="0"/>
                  </a:moveTo>
                  <a:lnTo>
                    <a:pt x="486065" y="0"/>
                  </a:lnTo>
                  <a:lnTo>
                    <a:pt x="486065" y="163975"/>
                  </a:lnTo>
                  <a:lnTo>
                    <a:pt x="0" y="1639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86065" cy="21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891081" y="3148286"/>
            <a:ext cx="5552248" cy="5078829"/>
          </a:xfrm>
          <a:custGeom>
            <a:avLst/>
            <a:gdLst/>
            <a:ahLst/>
            <a:cxnLst/>
            <a:rect r="r" b="b" t="t" l="l"/>
            <a:pathLst>
              <a:path h="5078829" w="5552248">
                <a:moveTo>
                  <a:pt x="0" y="0"/>
                </a:moveTo>
                <a:lnTo>
                  <a:pt x="5552248" y="0"/>
                </a:lnTo>
                <a:lnTo>
                  <a:pt x="5552248" y="5078829"/>
                </a:lnTo>
                <a:lnTo>
                  <a:pt x="0" y="5078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768" t="0" r="-15507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14728" y="5816437"/>
            <a:ext cx="9458543" cy="3725836"/>
          </a:xfrm>
          <a:custGeom>
            <a:avLst/>
            <a:gdLst/>
            <a:ahLst/>
            <a:cxnLst/>
            <a:rect r="r" b="b" t="t" l="l"/>
            <a:pathLst>
              <a:path h="3725836" w="9458543">
                <a:moveTo>
                  <a:pt x="0" y="0"/>
                </a:moveTo>
                <a:lnTo>
                  <a:pt x="9458544" y="0"/>
                </a:lnTo>
                <a:lnTo>
                  <a:pt x="9458544" y="3725836"/>
                </a:lnTo>
                <a:lnTo>
                  <a:pt x="0" y="37258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28625"/>
            <a:ext cx="11954638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11) Güvenli bağlantı nasıl kurulur? (TCP, QUIC ve TLS)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590675"/>
            <a:ext cx="15681763" cy="470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QUIC – HTTP/3 ba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ğlantısı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HTTP/3 kullanılıyorsa TCP yerine QUIC kullanılır.</a:t>
            </a: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QUIC, UDP üzerinde çalışan ve TLS 1.3 güvenliğini kendi bağlantı kurulum sürecine entegre eden bir taşıma protokolüdür.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 nedenle HTTP/3 bağlantısında ayrı bir TCP Three-Way Handshake gerçekleştirilmez.</a:t>
            </a: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'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bazı avantajları:</a:t>
            </a:r>
          </a:p>
          <a:p>
            <a:pPr algn="just">
              <a:lnSpc>
                <a:spcPts val="2519"/>
              </a:lnSpc>
            </a:pPr>
          </a:p>
          <a:p>
            <a:pPr algn="just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Bağlantı kuru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umu daha az gidiş-dönüş süresi gerektirebilir.</a:t>
            </a:r>
          </a:p>
          <a:p>
            <a:pPr algn="just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ir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veri akışındaki paket kaybının d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ğ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er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b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ğıms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ı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z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akışları engellemesini azaltır.</a:t>
            </a:r>
          </a:p>
          <a:p>
            <a:pPr algn="just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Ağ değiş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kl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kl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nde bağlantının devam etmesini destekleyebilir.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28625"/>
            <a:ext cx="1651882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12) HTTP Request ve Response – Tarayıcı Google'dan sayfayı ister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590675"/>
            <a:ext cx="15681763" cy="6907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Tar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ayıcı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Goog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ası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nda güvenli bağlantı kurul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tık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ayıcı,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Googl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'ı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ana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yf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sını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gö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rün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tül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içi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ucu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bir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(i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k)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g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önd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erir.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HTTP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Reques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– T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ara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yıc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ı 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yf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yı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iste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HTTP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tar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ay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ıc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ının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sunucu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 b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ir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yn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ak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ist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ç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gön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ğ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mes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aj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ı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r.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HTTP/1.1 üzerinden örnek: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GET / HTTP/1.1</a:t>
            </a: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Host: google.com</a:t>
            </a: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Accept: text/html</a:t>
            </a: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User-Agent: ...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GET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                    :  Sunucudan bir kaynak ister.</a:t>
            </a: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/                                           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 Web sitesinin ana sayfasını ifade eder.</a:t>
            </a: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HTTP/1.1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         : Kullanılan HTTP sürümüdür.</a:t>
            </a: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Host: google.com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: İsteğin hangi alan adına yapıldığını belirtir.</a:t>
            </a: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Accept: text/html     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Tarayıcının HTML yanıtını kabul ettiğini bildirir.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Yani tarayıcı Google'a "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google.com sitesinin ana sayfasını bana gönder.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" demiş olur.</a:t>
            </a:r>
          </a:p>
          <a:p>
            <a:pPr algn="just">
              <a:lnSpc>
                <a:spcPts val="25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65797"/>
            <a:ext cx="1651882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12) HTTP Request ve Response – Tarayıcı Google'dan sayfayı ister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827847"/>
            <a:ext cx="15681763" cy="7221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HTTP Response – Google yanıt gönderir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Goog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nucusu isteği işler ve t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ayıcı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bir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espon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(yanıt)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g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önd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erir.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HTTP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/1.1 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200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OK</a:t>
            </a: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nt-Typ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e: text/html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;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c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arset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=UTF-8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&lt;!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doctype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h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ml&gt;</a:t>
            </a: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&lt;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html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&gt;</a:t>
            </a: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&lt;he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d&gt;</a:t>
            </a: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  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&lt;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title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&gt;G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oogle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&lt;/t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it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&gt;</a:t>
            </a: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&lt;/he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d&gt;</a:t>
            </a: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&lt;bod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y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&gt;</a:t>
            </a: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..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.</a:t>
            </a: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&lt;/bo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y&gt;</a:t>
            </a: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&lt;/ht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ml</a:t>
            </a: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&gt;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HTTP/1.1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   : Yanıtın HTTP sürümüdür.</a:t>
            </a: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200 OK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    : İsteğin başarıyla işlendiğini belirtir.</a:t>
            </a: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Content-Type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: Gönderilen içeriğin HTML olduğunu belirtir.</a:t>
            </a:r>
          </a:p>
          <a:p>
            <a:pPr algn="just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HTML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        : Tarayıcının sayfayı oluşturmak için kullanacağı içeriktir.</a:t>
            </a:r>
          </a:p>
          <a:p>
            <a:pPr algn="just">
              <a:lnSpc>
                <a:spcPts val="25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60587" y="3889620"/>
            <a:ext cx="12166826" cy="5368680"/>
          </a:xfrm>
          <a:custGeom>
            <a:avLst/>
            <a:gdLst/>
            <a:ahLst/>
            <a:cxnLst/>
            <a:rect r="r" b="b" t="t" l="l"/>
            <a:pathLst>
              <a:path h="5368680" w="12166826">
                <a:moveTo>
                  <a:pt x="0" y="0"/>
                </a:moveTo>
                <a:lnTo>
                  <a:pt x="12166826" y="0"/>
                </a:lnTo>
                <a:lnTo>
                  <a:pt x="12166826" y="5368680"/>
                </a:lnTo>
                <a:lnTo>
                  <a:pt x="0" y="5368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651882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13) Yanıt bilgisayara nasıl geri döner?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590675"/>
            <a:ext cx="15681763" cy="219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Google'ın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gö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rdi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ği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yanıt,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nt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er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net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üzerind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rou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er'lar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aracılığıy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bi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lgi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yarımıza geri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iletili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r.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Ev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ağımızda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ku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nılıyo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rs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r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r,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NAT t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ab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osund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ş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ş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rm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 bakarak yanıtı doğru bilgisayara yönlendirir.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Yanıtın izlediği yol, isteğin gönderildiği yolla birebir aynı olmak zorunda değildir.</a:t>
            </a:r>
          </a:p>
          <a:p>
            <a:pPr algn="just">
              <a:lnSpc>
                <a:spcPts val="25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651882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14) Tarayıcı gelen HTML'yi nasıl ekrana dönüştürür?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590675"/>
            <a:ext cx="16230600" cy="847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Google sunucusu HTTP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espo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nse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il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 HTML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içe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riğini bi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lgi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yarımıza gönderd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 Anc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ak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HTML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kodu doğ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rud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 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ek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rand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görüntü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len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ez. Tarayıcı bu kodları işleyerek gördüğümüz web sayfasına dönüştürür.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 süreç Rendering (Sayfa Oluşturma) olarak adlandırılır.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1. HTML → DOM oluşturulur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Tarayıcı gelen HTML kodlarını okur ve DOM (Document Object Model) adı verilen ağaç yapısını oluşturur.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DOM, web sayfasındaki başlık, metin, görsel ve buton gibi öğelerin hiyerarşik yapısını temsil eder.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2. CSS → CSSOM oluşturulur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Tarayıcı CSS kurallarını işler ve CSSOM (CSS Object Model) yapısını oluşturur.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CSSOM, sayfadaki öğelerin renk, yazı tipi, boyut ve diğer stil özelliklerini belirlemeye yardımcı olur.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DOM: Sayfada hangi öğeler var?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CSSOM: Bu öğeler nasıl görünecek?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3. Render Tree oluşturulur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Tarayıcı, DOM ve CSSOM bilgilerini kullanarak ekranda görüntülenecek öğeler için Render Tree oluşturur.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 yapı, hangi öğelerin çizileceğini ve hangi stillerin uygulanacağını belirler.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4. Layout – Konum ve boyutlar hesaplanır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Tarayıcı, öğelerin ekranda nerede ve hangi boyutta bulunacağını hesaplar.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Örneğin: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Arama kutusu sayfanın ortasında olacak.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Google logosu arama kutusunun üzerinde bulunacak.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Butonlar arama kutusunun altında yer alacak.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48619" y="3465334"/>
            <a:ext cx="10010681" cy="5005341"/>
          </a:xfrm>
          <a:custGeom>
            <a:avLst/>
            <a:gdLst/>
            <a:ahLst/>
            <a:cxnLst/>
            <a:rect r="r" b="b" t="t" l="l"/>
            <a:pathLst>
              <a:path h="5005341" w="10010681">
                <a:moveTo>
                  <a:pt x="0" y="0"/>
                </a:moveTo>
                <a:lnTo>
                  <a:pt x="10010681" y="0"/>
                </a:lnTo>
                <a:lnTo>
                  <a:pt x="10010681" y="5005341"/>
                </a:lnTo>
                <a:lnTo>
                  <a:pt x="0" y="50053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651882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14) Tarayıcı gelen HTML'yi nasıl ekrana dönüştürür?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590675"/>
            <a:ext cx="6012767" cy="847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5. Paint – Görsel öğeler çizime hazırlanır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Tarayıcı, öğelerin renklerini, kenarlıklarını, metinlerini ve görsellerini çizmek için ge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 işlemleri hazırlar.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6. Compositing – Katmanlar birleştirilir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Tarayıcı, gerekli katmanları birleştirerek sayfanın ekranda görüntülenmesini sağlar.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JavaScript bu süreçte ne yapar?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JavaScript, sayfanın dinamik ve etkileşimli çalışmasını sağlar.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Örneğin Google'da: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Arama kutusuna yazılan metinleri işleyebilir.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Kullanıcı etkileşimlerine tepki verebilir.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Arama önerileri için yeni HTTP istekleri gönderebilir.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DOM üzerinde değişiklik yaparak sayfa içeriğini güncelleyebilir.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JavaScript'in yaptığı değişiklikler, gerektiğinde tarayıcının Layout, Paint veya Compositing işlemlerini yeniden gerçekleştirmesine neden olabilir.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651882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15) Son olarak OSI modeli ve TCP/IP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881499" y="2234784"/>
            <a:ext cx="10075289" cy="6716860"/>
          </a:xfrm>
          <a:custGeom>
            <a:avLst/>
            <a:gdLst/>
            <a:ahLst/>
            <a:cxnLst/>
            <a:rect r="r" b="b" t="t" l="l"/>
            <a:pathLst>
              <a:path h="6716860" w="10075289">
                <a:moveTo>
                  <a:pt x="0" y="0"/>
                </a:moveTo>
                <a:lnTo>
                  <a:pt x="10075289" y="0"/>
                </a:lnTo>
                <a:lnTo>
                  <a:pt x="10075289" y="6716859"/>
                </a:lnTo>
                <a:lnTo>
                  <a:pt x="0" y="67168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43245" y="4486275"/>
            <a:ext cx="8801511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b="true" sz="8800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TEŞEKKÜRLER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DAHYGkEGTIE</dc:identifier>
  <dcterms:modified xsi:type="dcterms:W3CDTF">2011-08-01T06:04:30Z</dcterms:modified>
  <cp:revision>1</cp:revision>
  <dc:title>Google.com nasıl çalışır? Yeni</dc:title>
</cp:coreProperties>
</file>